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1"/>
  </p:notesMasterIdLst>
  <p:sldIdLst>
    <p:sldId id="256" r:id="rId5"/>
    <p:sldId id="272" r:id="rId6"/>
    <p:sldId id="257" r:id="rId7"/>
    <p:sldId id="258" r:id="rId8"/>
    <p:sldId id="259" r:id="rId9"/>
    <p:sldId id="260" r:id="rId10"/>
    <p:sldId id="262" r:id="rId11"/>
    <p:sldId id="263" r:id="rId12"/>
    <p:sldId id="264" r:id="rId13"/>
    <p:sldId id="266" r:id="rId14"/>
    <p:sldId id="298" r:id="rId15"/>
    <p:sldId id="267" r:id="rId16"/>
    <p:sldId id="299" r:id="rId17"/>
    <p:sldId id="265" r:id="rId18"/>
    <p:sldId id="295" r:id="rId19"/>
    <p:sldId id="268" r:id="rId20"/>
    <p:sldId id="296" r:id="rId21"/>
    <p:sldId id="269" r:id="rId22"/>
    <p:sldId id="297" r:id="rId23"/>
    <p:sldId id="271" r:id="rId24"/>
    <p:sldId id="288" r:id="rId25"/>
    <p:sldId id="289" r:id="rId26"/>
    <p:sldId id="290" r:id="rId27"/>
    <p:sldId id="291" r:id="rId28"/>
    <p:sldId id="292" r:id="rId29"/>
    <p:sldId id="28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1F71889-F06F-4CA6-8E5E-DB53B1F6769D}">
          <p14:sldIdLst>
            <p14:sldId id="256"/>
            <p14:sldId id="272"/>
          </p14:sldIdLst>
        </p14:section>
        <p14:section name="Understanding (15%)" id="{33142C0D-E567-42F3-924E-721379FE1F23}">
          <p14:sldIdLst>
            <p14:sldId id="257"/>
            <p14:sldId id="258"/>
            <p14:sldId id="259"/>
            <p14:sldId id="260"/>
            <p14:sldId id="262"/>
            <p14:sldId id="263"/>
          </p14:sldIdLst>
        </p14:section>
        <p14:section name="Potential Patterns (25%)" id="{6E2F7040-7457-4B34-9B43-E3C38A502C24}">
          <p14:sldIdLst>
            <p14:sldId id="264"/>
            <p14:sldId id="266"/>
            <p14:sldId id="298"/>
            <p14:sldId id="267"/>
            <p14:sldId id="299"/>
            <p14:sldId id="265"/>
            <p14:sldId id="295"/>
            <p14:sldId id="268"/>
            <p14:sldId id="296"/>
            <p14:sldId id="269"/>
            <p14:sldId id="297"/>
          </p14:sldIdLst>
        </p14:section>
        <p14:section name="Critical Evaluation" id="{E588530C-1BBA-4C12-8153-D3109CD53C1A}">
          <p14:sldIdLst>
            <p14:sldId id="271"/>
            <p14:sldId id="288"/>
            <p14:sldId id="289"/>
            <p14:sldId id="290"/>
            <p14:sldId id="291"/>
            <p14:sldId id="292"/>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0097" autoAdjust="0"/>
  </p:normalViewPr>
  <p:slideViewPr>
    <p:cSldViewPr snapToGrid="0">
      <p:cViewPr varScale="1">
        <p:scale>
          <a:sx n="127" d="100"/>
          <a:sy n="127" d="100"/>
        </p:scale>
        <p:origin x="1062"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06A619-3AA6-48D4-B719-1F1F7B103456}" type="datetimeFigureOut">
              <a:rPr lang="en-GB" smtClean="0"/>
              <a:t>25/06/2023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B62352-6FD5-4778-BEFC-67EDF118333B}" type="slidenum">
              <a:rPr lang="en-GB" smtClean="0"/>
              <a:t>‹#›</a:t>
            </a:fld>
            <a:endParaRPr lang="en-GB"/>
          </a:p>
        </p:txBody>
      </p:sp>
    </p:spTree>
    <p:extLst>
      <p:ext uri="{BB962C8B-B14F-4D97-AF65-F5344CB8AC3E}">
        <p14:creationId xmlns:p14="http://schemas.microsoft.com/office/powerpoint/2010/main" val="2758724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b="0" i="0" dirty="0">
                <a:solidFill>
                  <a:srgbClr val="000000"/>
                </a:solidFill>
                <a:effectLst/>
                <a:latin typeface="Calibri" panose="020F0502020204030204" pitchFamily="34" charset="0"/>
              </a:rPr>
              <a:t>Design Patterns in Object oriented programming </a:t>
            </a:r>
            <a:endParaRPr lang="en-GB" dirty="0"/>
          </a:p>
        </p:txBody>
      </p:sp>
      <p:sp>
        <p:nvSpPr>
          <p:cNvPr id="4" name="Slide Number Placeholder 3"/>
          <p:cNvSpPr>
            <a:spLocks noGrp="1"/>
          </p:cNvSpPr>
          <p:nvPr>
            <p:ph type="sldNum" sz="quarter" idx="5"/>
          </p:nvPr>
        </p:nvSpPr>
        <p:spPr/>
        <p:txBody>
          <a:bodyPr/>
          <a:lstStyle/>
          <a:p>
            <a:fld id="{A9B62352-6FD5-4778-BEFC-67EDF118333B}" type="slidenum">
              <a:rPr lang="en-GB" smtClean="0"/>
              <a:t>1</a:t>
            </a:fld>
            <a:endParaRPr lang="en-GB"/>
          </a:p>
        </p:txBody>
      </p:sp>
    </p:spTree>
    <p:extLst>
      <p:ext uri="{BB962C8B-B14F-4D97-AF65-F5344CB8AC3E}">
        <p14:creationId xmlns:p14="http://schemas.microsoft.com/office/powerpoint/2010/main" val="2029446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b="0" i="0" dirty="0">
                <a:solidFill>
                  <a:srgbClr val="000000"/>
                </a:solidFill>
                <a:effectLst/>
                <a:latin typeface="Calibri" panose="020F0502020204030204" pitchFamily="34" charset="0"/>
              </a:rPr>
              <a:t>In this presentation we will first consider what design patterns are,  then we will consider designs we could implement in our own code and how they have been implemented. Finally we will critically evaluate the solution.  </a:t>
            </a:r>
            <a:endParaRPr lang="en-GB" dirty="0"/>
          </a:p>
        </p:txBody>
      </p:sp>
      <p:sp>
        <p:nvSpPr>
          <p:cNvPr id="4" name="Slide Number Placeholder 3"/>
          <p:cNvSpPr>
            <a:spLocks noGrp="1"/>
          </p:cNvSpPr>
          <p:nvPr>
            <p:ph type="sldNum" sz="quarter" idx="5"/>
          </p:nvPr>
        </p:nvSpPr>
        <p:spPr/>
        <p:txBody>
          <a:bodyPr/>
          <a:lstStyle/>
          <a:p>
            <a:fld id="{A9B62352-6FD5-4778-BEFC-67EDF118333B}" type="slidenum">
              <a:rPr lang="en-GB" smtClean="0"/>
              <a:t>2</a:t>
            </a:fld>
            <a:endParaRPr lang="en-GB"/>
          </a:p>
        </p:txBody>
      </p:sp>
    </p:spTree>
    <p:extLst>
      <p:ext uri="{BB962C8B-B14F-4D97-AF65-F5344CB8AC3E}">
        <p14:creationId xmlns:p14="http://schemas.microsoft.com/office/powerpoint/2010/main" val="2090958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GB" b="0" i="0" dirty="0">
              <a:solidFill>
                <a:srgbClr val="D1D5DB"/>
              </a:solidFill>
              <a:effectLst/>
              <a:latin typeface="Söhne"/>
            </a:endParaRPr>
          </a:p>
          <a:p>
            <a:pPr algn="l" rtl="0" fontAlgn="base"/>
            <a:r>
              <a:rPr lang="en-GB" sz="1800" b="0" i="0" dirty="0">
                <a:solidFill>
                  <a:srgbClr val="000000"/>
                </a:solidFill>
                <a:effectLst/>
                <a:latin typeface="Calibri" panose="020F0502020204030204" pitchFamily="34" charset="0"/>
              </a:rPr>
              <a:t>So what are design patterns?  </a:t>
            </a:r>
          </a:p>
          <a:p>
            <a:pPr algn="l" rtl="0" fontAlgn="base"/>
            <a:endParaRPr lang="en-GB" b="0" i="0" dirty="0">
              <a:solidFill>
                <a:srgbClr val="000000"/>
              </a:solidFill>
              <a:effectLst/>
              <a:latin typeface="Segoe UI" panose="020B0502040204020203" pitchFamily="34" charset="0"/>
            </a:endParaRPr>
          </a:p>
          <a:p>
            <a:pPr algn="l" rtl="0" fontAlgn="base"/>
            <a:r>
              <a:rPr lang="en-GB" sz="1800" b="0" i="0" dirty="0">
                <a:solidFill>
                  <a:srgbClr val="000000"/>
                </a:solidFill>
                <a:effectLst/>
                <a:latin typeface="Calibri" panose="020F0502020204030204" pitchFamily="34" charset="0"/>
              </a:rPr>
              <a:t>Object-oriented design patterns are reusable solutions to common coding conundrums that arise during software design and development. They provide a set of proven techniques and best practices for designing </a:t>
            </a:r>
            <a:r>
              <a:rPr lang="en-GB" sz="1800" b="0" i="0" dirty="0" err="1">
                <a:solidFill>
                  <a:srgbClr val="000000"/>
                </a:solidFill>
                <a:effectLst/>
                <a:latin typeface="Calibri" panose="020F0502020204030204" pitchFamily="34" charset="0"/>
              </a:rPr>
              <a:t>oo</a:t>
            </a:r>
            <a:r>
              <a:rPr lang="en-GB" sz="1800" b="0" i="0" dirty="0">
                <a:solidFill>
                  <a:srgbClr val="000000"/>
                </a:solidFill>
                <a:effectLst/>
                <a:latin typeface="Calibri" panose="020F0502020204030204" pitchFamily="34" charset="0"/>
              </a:rPr>
              <a:t> systems.  </a:t>
            </a:r>
          </a:p>
          <a:p>
            <a:pPr algn="l" rtl="0" fontAlgn="base"/>
            <a:endParaRPr lang="en-GB" b="0" i="0" dirty="0">
              <a:solidFill>
                <a:srgbClr val="000000"/>
              </a:solidFill>
              <a:effectLst/>
              <a:latin typeface="Segoe UI" panose="020B0502040204020203" pitchFamily="34" charset="0"/>
            </a:endParaRPr>
          </a:p>
          <a:p>
            <a:pPr algn="l" rtl="0" fontAlgn="base"/>
            <a:r>
              <a:rPr lang="en-GB" sz="1800" b="0" i="0" dirty="0">
                <a:solidFill>
                  <a:srgbClr val="000000"/>
                </a:solidFill>
                <a:effectLst/>
                <a:latin typeface="Calibri" panose="020F0502020204030204" pitchFamily="34" charset="0"/>
              </a:rPr>
              <a:t>Design patterns are language-agnostic concepts and can be applied to any OOP language. They also provide a shared vocabulary with other developers which allows easier communication with colleagues and helps developers to think at pattern level without getting bogged down by details. They allow develops to easily communicate ideas as communicating in patterns allows for a understanding of the constraints and characteristics of the pattern and not just its structure.  </a:t>
            </a:r>
          </a:p>
          <a:p>
            <a:pPr algn="l" rtl="0" fontAlgn="base"/>
            <a:endParaRPr lang="en-GB" b="0" i="0" dirty="0">
              <a:solidFill>
                <a:srgbClr val="000000"/>
              </a:solidFill>
              <a:effectLst/>
              <a:latin typeface="Segoe UI" panose="020B0502040204020203" pitchFamily="34" charset="0"/>
            </a:endParaRPr>
          </a:p>
          <a:p>
            <a:pPr algn="l" rtl="0" fontAlgn="base"/>
            <a:r>
              <a:rPr lang="en-GB" sz="1800" b="0" i="0" dirty="0">
                <a:solidFill>
                  <a:srgbClr val="000000"/>
                </a:solidFill>
                <a:effectLst/>
                <a:latin typeface="Calibri" panose="020F0502020204030204" pitchFamily="34" charset="0"/>
              </a:rPr>
              <a:t>Each pattern addresses a specific problem and provides a reusable solution. Design patterns help improve code flexibility, reusability, and maintainability by promoting modular and decoupled designs.  </a:t>
            </a:r>
          </a:p>
          <a:p>
            <a:pPr algn="l" rtl="0" fontAlgn="base"/>
            <a:endParaRPr lang="en-GB" b="0" i="0" dirty="0">
              <a:solidFill>
                <a:srgbClr val="000000"/>
              </a:solidFill>
              <a:effectLst/>
              <a:latin typeface="Segoe UI" panose="020B0502040204020203" pitchFamily="34" charset="0"/>
            </a:endParaRPr>
          </a:p>
          <a:p>
            <a:pPr algn="l" rtl="0" fontAlgn="base"/>
            <a:r>
              <a:rPr lang="en-GB" sz="1800" b="0" i="0" dirty="0">
                <a:solidFill>
                  <a:srgbClr val="000000"/>
                </a:solidFill>
                <a:effectLst/>
                <a:latin typeface="Calibri" panose="020F0502020204030204" pitchFamily="34" charset="0"/>
              </a:rPr>
              <a:t>Design patterns are split between class and object patterns. Class patterns focus on relationships via inheritance between classes, whilst object patterns are usually defined by composition and the relationship between objects. Object patterns are usually more flexible and dynamic than class patterns as they are typically created at runtime rather than compilation.   </a:t>
            </a:r>
            <a:endParaRPr lang="en-GB" b="0" i="0" dirty="0">
              <a:solidFill>
                <a:srgbClr val="000000"/>
              </a:solidFill>
              <a:effectLst/>
              <a:latin typeface="Segoe UI" panose="020B0502040204020203" pitchFamily="34" charset="0"/>
            </a:endParaRPr>
          </a:p>
          <a:p>
            <a:endParaRPr lang="en-GB" dirty="0"/>
          </a:p>
        </p:txBody>
      </p:sp>
      <p:sp>
        <p:nvSpPr>
          <p:cNvPr id="4" name="Slide Number Placeholder 3"/>
          <p:cNvSpPr>
            <a:spLocks noGrp="1"/>
          </p:cNvSpPr>
          <p:nvPr>
            <p:ph type="sldNum" sz="quarter" idx="5"/>
          </p:nvPr>
        </p:nvSpPr>
        <p:spPr/>
        <p:txBody>
          <a:bodyPr/>
          <a:lstStyle/>
          <a:p>
            <a:fld id="{A9B62352-6FD5-4778-BEFC-67EDF118333B}" type="slidenum">
              <a:rPr lang="en-GB" smtClean="0"/>
              <a:t>3</a:t>
            </a:fld>
            <a:endParaRPr lang="en-GB"/>
          </a:p>
        </p:txBody>
      </p:sp>
    </p:spTree>
    <p:extLst>
      <p:ext uri="{BB962C8B-B14F-4D97-AF65-F5344CB8AC3E}">
        <p14:creationId xmlns:p14="http://schemas.microsoft.com/office/powerpoint/2010/main" val="1111976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GB" sz="1800" b="0" i="0" dirty="0">
                <a:solidFill>
                  <a:srgbClr val="000000"/>
                </a:solidFill>
                <a:effectLst/>
                <a:latin typeface="Calibri" panose="020F0502020204030204" pitchFamily="34" charset="0"/>
              </a:rPr>
              <a:t>Behavioural patterns address the communication between objects and how they distribute responsibility. These patterns identify communication patterns between objects and classes and provide a solution for commonly occurring object and class interactions.  </a:t>
            </a:r>
          </a:p>
          <a:p>
            <a:pPr algn="l" rtl="0" fontAlgn="base"/>
            <a:endParaRPr lang="en-GB" b="0" i="0" dirty="0">
              <a:solidFill>
                <a:srgbClr val="000000"/>
              </a:solidFill>
              <a:effectLst/>
              <a:latin typeface="Segoe UI" panose="020B0502040204020203" pitchFamily="34" charset="0"/>
            </a:endParaRPr>
          </a:p>
          <a:p>
            <a:pPr algn="l" rtl="0" fontAlgn="base"/>
            <a:r>
              <a:rPr lang="en-GB" sz="1800" b="0" i="0" dirty="0">
                <a:solidFill>
                  <a:srgbClr val="000000"/>
                </a:solidFill>
                <a:effectLst/>
                <a:latin typeface="Calibri" panose="020F0502020204030204" pitchFamily="34" charset="0"/>
              </a:rPr>
              <a:t>The three </a:t>
            </a:r>
            <a:r>
              <a:rPr lang="en-GB" sz="1800" b="0" i="0" dirty="0" err="1">
                <a:solidFill>
                  <a:srgbClr val="000000"/>
                </a:solidFill>
                <a:effectLst/>
                <a:latin typeface="Calibri" panose="020F0502020204030204" pitchFamily="34" charset="0"/>
              </a:rPr>
              <a:t>behavioral</a:t>
            </a:r>
            <a:r>
              <a:rPr lang="en-GB" sz="1800" b="0" i="0" dirty="0">
                <a:solidFill>
                  <a:srgbClr val="000000"/>
                </a:solidFill>
                <a:effectLst/>
                <a:latin typeface="Calibri" panose="020F0502020204030204" pitchFamily="34" charset="0"/>
              </a:rPr>
              <a:t> patterns presented here are focused on encapsulating behaviour in a object and delegating requests to it.  </a:t>
            </a:r>
            <a:endParaRPr lang="en-GB" b="0" i="0" dirty="0">
              <a:solidFill>
                <a:srgbClr val="000000"/>
              </a:solidFill>
              <a:effectLst/>
              <a:latin typeface="Segoe UI" panose="020B0502040204020203" pitchFamily="34" charset="0"/>
            </a:endParaRPr>
          </a:p>
          <a:p>
            <a:endParaRPr lang="en-GB" dirty="0"/>
          </a:p>
        </p:txBody>
      </p:sp>
      <p:sp>
        <p:nvSpPr>
          <p:cNvPr id="4" name="Slide Number Placeholder 3"/>
          <p:cNvSpPr>
            <a:spLocks noGrp="1"/>
          </p:cNvSpPr>
          <p:nvPr>
            <p:ph type="sldNum" sz="quarter" idx="5"/>
          </p:nvPr>
        </p:nvSpPr>
        <p:spPr/>
        <p:txBody>
          <a:bodyPr/>
          <a:lstStyle/>
          <a:p>
            <a:fld id="{A9B62352-6FD5-4778-BEFC-67EDF118333B}" type="slidenum">
              <a:rPr lang="en-GB" smtClean="0"/>
              <a:t>4</a:t>
            </a:fld>
            <a:endParaRPr lang="en-GB"/>
          </a:p>
        </p:txBody>
      </p:sp>
    </p:spTree>
    <p:extLst>
      <p:ext uri="{BB962C8B-B14F-4D97-AF65-F5344CB8AC3E}">
        <p14:creationId xmlns:p14="http://schemas.microsoft.com/office/powerpoint/2010/main" val="1269645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GB" sz="1800" b="0" i="0" dirty="0">
                <a:solidFill>
                  <a:srgbClr val="000000"/>
                </a:solidFill>
                <a:effectLst/>
                <a:latin typeface="Calibri" panose="020F0502020204030204" pitchFamily="34" charset="0"/>
              </a:rPr>
              <a:t>Creational patterns focus on how objects are created and instantiated. They provide us with ways to create objects in a flexible and efficient manner by decoupling clients and objects, thus creating systems independent of their object creation and representation. Creational patterns allow us to move away from hard-coding </a:t>
            </a:r>
            <a:r>
              <a:rPr lang="en-GB" sz="1800" b="0" i="0" dirty="0" err="1">
                <a:solidFill>
                  <a:srgbClr val="000000"/>
                </a:solidFill>
                <a:effectLst/>
                <a:latin typeface="Calibri" panose="020F0502020204030204" pitchFamily="34" charset="0"/>
              </a:rPr>
              <a:t>behaviors</a:t>
            </a:r>
            <a:r>
              <a:rPr lang="en-GB" sz="1800" b="0" i="0" dirty="0">
                <a:solidFill>
                  <a:srgbClr val="000000"/>
                </a:solidFill>
                <a:effectLst/>
                <a:latin typeface="Calibri" panose="020F0502020204030204" pitchFamily="34" charset="0"/>
              </a:rPr>
              <a:t>.   </a:t>
            </a:r>
          </a:p>
          <a:p>
            <a:pPr algn="l" rtl="0" fontAlgn="base"/>
            <a:endParaRPr lang="en-GB" b="0" i="0" dirty="0">
              <a:solidFill>
                <a:srgbClr val="000000"/>
              </a:solidFill>
              <a:effectLst/>
              <a:latin typeface="Segoe UI" panose="020B0502040204020203" pitchFamily="34" charset="0"/>
            </a:endParaRPr>
          </a:p>
          <a:p>
            <a:pPr algn="l" rtl="0" fontAlgn="base"/>
            <a:r>
              <a:rPr lang="en-GB" sz="1800" b="0" i="0" dirty="0">
                <a:solidFill>
                  <a:srgbClr val="000000"/>
                </a:solidFill>
                <a:effectLst/>
                <a:latin typeface="Calibri" panose="020F0502020204030204" pitchFamily="34" charset="0"/>
              </a:rPr>
              <a:t>One of the benefits of patterns is their ability to be combined or used as alternatives to each other. Patterns can be combined with patterns in the same category, such as the builder pattern being used to build a complex object which will be initialized as a singleton so only a single instance is created. They can also be combined across categories such as using a </a:t>
            </a:r>
            <a:r>
              <a:rPr lang="en-GB" sz="1800" b="0" i="0" dirty="0" err="1">
                <a:solidFill>
                  <a:srgbClr val="000000"/>
                </a:solidFill>
                <a:effectLst/>
                <a:latin typeface="Calibri" panose="020F0502020204030204" pitchFamily="34" charset="0"/>
              </a:rPr>
              <a:t>behavioral</a:t>
            </a:r>
            <a:r>
              <a:rPr lang="en-GB" sz="1800" b="0" i="0" dirty="0">
                <a:solidFill>
                  <a:srgbClr val="000000"/>
                </a:solidFill>
                <a:effectLst/>
                <a:latin typeface="Calibri" panose="020F0502020204030204" pitchFamily="34" charset="0"/>
              </a:rPr>
              <a:t> Command pattern to encapsulate information to run our </a:t>
            </a:r>
            <a:r>
              <a:rPr lang="en-GB" sz="1800" b="0" i="0" dirty="0" err="1">
                <a:solidFill>
                  <a:srgbClr val="000000"/>
                </a:solidFill>
                <a:effectLst/>
                <a:latin typeface="Calibri" panose="020F0502020204030204" pitchFamily="34" charset="0"/>
              </a:rPr>
              <a:t>usecases</a:t>
            </a:r>
            <a:r>
              <a:rPr lang="en-GB" sz="1800" b="0" i="0" dirty="0">
                <a:solidFill>
                  <a:srgbClr val="000000"/>
                </a:solidFill>
                <a:effectLst/>
                <a:latin typeface="Calibri" panose="020F0502020204030204" pitchFamily="34" charset="0"/>
              </a:rPr>
              <a:t> within a factory method.  </a:t>
            </a:r>
            <a:endParaRPr lang="en-GB" b="0" i="0" dirty="0">
              <a:solidFill>
                <a:srgbClr val="000000"/>
              </a:solidFill>
              <a:effectLst/>
              <a:latin typeface="Segoe UI" panose="020B0502040204020203" pitchFamily="34" charset="0"/>
            </a:endParaRPr>
          </a:p>
          <a:p>
            <a:endParaRPr lang="en-GB" dirty="0"/>
          </a:p>
        </p:txBody>
      </p:sp>
      <p:sp>
        <p:nvSpPr>
          <p:cNvPr id="4" name="Slide Number Placeholder 3"/>
          <p:cNvSpPr>
            <a:spLocks noGrp="1"/>
          </p:cNvSpPr>
          <p:nvPr>
            <p:ph type="sldNum" sz="quarter" idx="5"/>
          </p:nvPr>
        </p:nvSpPr>
        <p:spPr/>
        <p:txBody>
          <a:bodyPr/>
          <a:lstStyle/>
          <a:p>
            <a:fld id="{A9B62352-6FD5-4778-BEFC-67EDF118333B}" type="slidenum">
              <a:rPr lang="en-GB" smtClean="0"/>
              <a:t>5</a:t>
            </a:fld>
            <a:endParaRPr lang="en-GB"/>
          </a:p>
        </p:txBody>
      </p:sp>
    </p:spTree>
    <p:extLst>
      <p:ext uri="{BB962C8B-B14F-4D97-AF65-F5344CB8AC3E}">
        <p14:creationId xmlns:p14="http://schemas.microsoft.com/office/powerpoint/2010/main" val="539829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dirty="0">
                <a:solidFill>
                  <a:srgbClr val="000000"/>
                </a:solidFill>
                <a:effectLst/>
                <a:latin typeface="Calibri" panose="020F0502020204030204" pitchFamily="34" charset="0"/>
              </a:rPr>
              <a:t>Finally, we have structural patterns. These patterns are concerned with class and object composition into larger structures. They commonly use inheritance to create interfaces or implementations and describe ways to compose objects to access expanded functionality.  </a:t>
            </a:r>
            <a:endParaRPr lang="en-GB" dirty="0"/>
          </a:p>
        </p:txBody>
      </p:sp>
      <p:sp>
        <p:nvSpPr>
          <p:cNvPr id="4" name="Slide Number Placeholder 3"/>
          <p:cNvSpPr>
            <a:spLocks noGrp="1"/>
          </p:cNvSpPr>
          <p:nvPr>
            <p:ph type="sldNum" sz="quarter" idx="5"/>
          </p:nvPr>
        </p:nvSpPr>
        <p:spPr/>
        <p:txBody>
          <a:bodyPr/>
          <a:lstStyle/>
          <a:p>
            <a:fld id="{A9B62352-6FD5-4778-BEFC-67EDF118333B}" type="slidenum">
              <a:rPr lang="en-GB" smtClean="0"/>
              <a:t>6</a:t>
            </a:fld>
            <a:endParaRPr lang="en-GB"/>
          </a:p>
        </p:txBody>
      </p:sp>
    </p:spTree>
    <p:extLst>
      <p:ext uri="{BB962C8B-B14F-4D97-AF65-F5344CB8AC3E}">
        <p14:creationId xmlns:p14="http://schemas.microsoft.com/office/powerpoint/2010/main" val="806561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GB" sz="1800" b="0" i="0" dirty="0">
                <a:solidFill>
                  <a:srgbClr val="000000"/>
                </a:solidFill>
                <a:effectLst/>
                <a:latin typeface="Calibri" panose="020F0502020204030204" pitchFamily="34" charset="0"/>
              </a:rPr>
              <a:t>Design patterns have multiple strengths. </a:t>
            </a:r>
          </a:p>
          <a:p>
            <a:pPr algn="l" rtl="0" fontAlgn="base"/>
            <a:r>
              <a:rPr lang="en-GB" sz="1800" b="0" i="0" dirty="0">
                <a:solidFill>
                  <a:srgbClr val="000000"/>
                </a:solidFill>
                <a:effectLst/>
                <a:latin typeface="Calibri" panose="020F0502020204030204" pitchFamily="34" charset="0"/>
              </a:rPr>
              <a:t> </a:t>
            </a:r>
            <a:endParaRPr lang="en-GB" b="0" i="0" dirty="0">
              <a:solidFill>
                <a:srgbClr val="000000"/>
              </a:solidFill>
              <a:effectLst/>
              <a:latin typeface="Segoe UI" panose="020B0502040204020203" pitchFamily="34" charset="0"/>
            </a:endParaRPr>
          </a:p>
          <a:p>
            <a:pPr algn="l" rtl="0" fontAlgn="base"/>
            <a:r>
              <a:rPr lang="en-GB" sz="1800" b="0" i="0" dirty="0">
                <a:solidFill>
                  <a:srgbClr val="000000"/>
                </a:solidFill>
                <a:effectLst/>
                <a:latin typeface="Calibri" panose="020F0502020204030204" pitchFamily="34" charset="0"/>
              </a:rPr>
              <a:t>They are reusable: Design patterns provide reusable solutions, saving time and effort by not having to reinvent the wheel.  </a:t>
            </a:r>
          </a:p>
          <a:p>
            <a:pPr algn="l" rtl="0" fontAlgn="base"/>
            <a:endParaRPr lang="en-GB" b="0" i="0" dirty="0">
              <a:solidFill>
                <a:srgbClr val="000000"/>
              </a:solidFill>
              <a:effectLst/>
              <a:latin typeface="Segoe UI" panose="020B0502040204020203" pitchFamily="34" charset="0"/>
            </a:endParaRPr>
          </a:p>
          <a:p>
            <a:pPr algn="l" rtl="0" fontAlgn="base"/>
            <a:r>
              <a:rPr lang="en-GB" sz="1800" b="0" i="0" dirty="0">
                <a:solidFill>
                  <a:srgbClr val="000000"/>
                </a:solidFill>
                <a:effectLst/>
                <a:latin typeface="Calibri" panose="020F0502020204030204" pitchFamily="34" charset="0"/>
              </a:rPr>
              <a:t>They create maintainable code: by promoting well-structured code, which is easier to understand, modify and maintain over time.  </a:t>
            </a:r>
          </a:p>
          <a:p>
            <a:pPr algn="l" rtl="0" fontAlgn="base"/>
            <a:endParaRPr lang="en-GB" b="0" i="0" dirty="0">
              <a:solidFill>
                <a:srgbClr val="000000"/>
              </a:solidFill>
              <a:effectLst/>
              <a:latin typeface="Segoe UI" panose="020B0502040204020203" pitchFamily="34" charset="0"/>
            </a:endParaRPr>
          </a:p>
          <a:p>
            <a:pPr algn="l" rtl="0" fontAlgn="base"/>
            <a:r>
              <a:rPr lang="en-GB" sz="1800" b="0" i="0" dirty="0">
                <a:solidFill>
                  <a:srgbClr val="000000"/>
                </a:solidFill>
                <a:effectLst/>
                <a:latin typeface="Calibri" panose="020F0502020204030204" pitchFamily="34" charset="0"/>
              </a:rPr>
              <a:t>Provide flexibility: Patterns allow us to design flexible and extensible systems, which can adapt to changing requirements more easily.  </a:t>
            </a:r>
          </a:p>
          <a:p>
            <a:pPr algn="l" rtl="0" fontAlgn="base"/>
            <a:endParaRPr lang="en-GB" b="0" i="0" dirty="0">
              <a:solidFill>
                <a:srgbClr val="000000"/>
              </a:solidFill>
              <a:effectLst/>
              <a:latin typeface="Segoe UI" panose="020B0502040204020203" pitchFamily="34" charset="0"/>
            </a:endParaRPr>
          </a:p>
          <a:p>
            <a:pPr algn="l" rtl="0" fontAlgn="base"/>
            <a:r>
              <a:rPr lang="en-GB" sz="1800" b="0" i="0" dirty="0">
                <a:solidFill>
                  <a:srgbClr val="000000"/>
                </a:solidFill>
                <a:effectLst/>
                <a:latin typeface="Calibri" panose="020F0502020204030204" pitchFamily="34" charset="0"/>
              </a:rPr>
              <a:t>Improving collaboration: Design </a:t>
            </a:r>
            <a:r>
              <a:rPr lang="en-GB" sz="1800" b="0" i="0" dirty="0" err="1">
                <a:solidFill>
                  <a:srgbClr val="000000"/>
                </a:solidFill>
                <a:effectLst/>
                <a:latin typeface="Calibri" panose="020F0502020204030204" pitchFamily="34" charset="0"/>
              </a:rPr>
              <a:t>pattzerns</a:t>
            </a:r>
            <a:r>
              <a:rPr lang="en-GB" sz="1800" b="0" i="0" dirty="0">
                <a:solidFill>
                  <a:srgbClr val="000000"/>
                </a:solidFill>
                <a:effectLst/>
                <a:latin typeface="Calibri" panose="020F0502020204030204" pitchFamily="34" charset="0"/>
              </a:rPr>
              <a:t> provide a common language and a set of concepts, enabling effective communication and collaboration among developers.  </a:t>
            </a:r>
            <a:endParaRPr lang="en-GB" b="0" i="0" dirty="0">
              <a:solidFill>
                <a:srgbClr val="000000"/>
              </a:solidFill>
              <a:effectLst/>
              <a:latin typeface="Segoe UI" panose="020B0502040204020203" pitchFamily="34" charset="0"/>
            </a:endParaRPr>
          </a:p>
          <a:p>
            <a:endParaRPr lang="en-GB" dirty="0"/>
          </a:p>
          <a:p>
            <a:endParaRPr lang="en-GB" dirty="0"/>
          </a:p>
        </p:txBody>
      </p:sp>
      <p:sp>
        <p:nvSpPr>
          <p:cNvPr id="4" name="Slide Number Placeholder 3"/>
          <p:cNvSpPr>
            <a:spLocks noGrp="1"/>
          </p:cNvSpPr>
          <p:nvPr>
            <p:ph type="sldNum" sz="quarter" idx="5"/>
          </p:nvPr>
        </p:nvSpPr>
        <p:spPr/>
        <p:txBody>
          <a:bodyPr/>
          <a:lstStyle/>
          <a:p>
            <a:fld id="{A9B62352-6FD5-4778-BEFC-67EDF118333B}" type="slidenum">
              <a:rPr lang="en-GB" smtClean="0"/>
              <a:t>7</a:t>
            </a:fld>
            <a:endParaRPr lang="en-GB"/>
          </a:p>
        </p:txBody>
      </p:sp>
    </p:spTree>
    <p:extLst>
      <p:ext uri="{BB962C8B-B14F-4D97-AF65-F5344CB8AC3E}">
        <p14:creationId xmlns:p14="http://schemas.microsoft.com/office/powerpoint/2010/main" val="2959333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GB" sz="1800" b="0" i="0" dirty="0">
                <a:solidFill>
                  <a:srgbClr val="000000"/>
                </a:solidFill>
                <a:effectLst/>
                <a:latin typeface="Calibri" panose="020F0502020204030204" pitchFamily="34" charset="0"/>
              </a:rPr>
              <a:t>However they also have limitations  </a:t>
            </a:r>
          </a:p>
          <a:p>
            <a:pPr algn="l" rtl="0" fontAlgn="base"/>
            <a:endParaRPr lang="en-GB" b="0" i="0" dirty="0">
              <a:solidFill>
                <a:srgbClr val="000000"/>
              </a:solidFill>
              <a:effectLst/>
              <a:latin typeface="Segoe UI" panose="020B0502040204020203" pitchFamily="34" charset="0"/>
            </a:endParaRPr>
          </a:p>
          <a:p>
            <a:pPr algn="l" rtl="0" fontAlgn="base"/>
            <a:r>
              <a:rPr lang="en-GB" sz="1800" b="0" i="0" dirty="0">
                <a:solidFill>
                  <a:srgbClr val="000000"/>
                </a:solidFill>
                <a:effectLst/>
                <a:latin typeface="Calibri" panose="020F0502020204030204" pitchFamily="34" charset="0"/>
              </a:rPr>
              <a:t>There is a learning curve: Some patterns may have a steep learning curve, particularly for beginners. It takes practice and experience to identify where to apply them and to do so effectively.  </a:t>
            </a:r>
          </a:p>
          <a:p>
            <a:pPr algn="l" rtl="0" fontAlgn="base"/>
            <a:endParaRPr lang="en-GB" b="0" i="0" dirty="0">
              <a:solidFill>
                <a:srgbClr val="000000"/>
              </a:solidFill>
              <a:effectLst/>
              <a:latin typeface="Segoe UI" panose="020B0502040204020203" pitchFamily="34" charset="0"/>
            </a:endParaRPr>
          </a:p>
          <a:p>
            <a:pPr algn="l" rtl="0" fontAlgn="base"/>
            <a:r>
              <a:rPr lang="en-GB" sz="1800" b="0" i="0" dirty="0">
                <a:solidFill>
                  <a:srgbClr val="000000"/>
                </a:solidFill>
                <a:effectLst/>
                <a:latin typeface="Calibri" panose="020F0502020204030204" pitchFamily="34" charset="0"/>
              </a:rPr>
              <a:t>Becoming pattern happy: Sometimes design patterns can be overused and added to code for the sake of it. One of the biggest learning curves is learning to recognise when to apply them and when to keep code simple.  </a:t>
            </a:r>
          </a:p>
          <a:p>
            <a:pPr algn="l" rtl="0" fontAlgn="base"/>
            <a:endParaRPr lang="en-GB" b="0" i="0" dirty="0">
              <a:solidFill>
                <a:srgbClr val="000000"/>
              </a:solidFill>
              <a:effectLst/>
              <a:latin typeface="Segoe UI" panose="020B0502040204020203" pitchFamily="34" charset="0"/>
            </a:endParaRPr>
          </a:p>
          <a:p>
            <a:pPr algn="l" rtl="0" fontAlgn="base"/>
            <a:r>
              <a:rPr lang="en-GB" sz="1800" b="0" i="0" dirty="0">
                <a:solidFill>
                  <a:srgbClr val="000000"/>
                </a:solidFill>
                <a:effectLst/>
                <a:latin typeface="Calibri" panose="020F0502020204030204" pitchFamily="34" charset="0"/>
              </a:rPr>
              <a:t>Context dependency: Not all patterns are suitable for all code and situations.   </a:t>
            </a:r>
            <a:endParaRPr lang="en-GB" b="0" i="0" dirty="0">
              <a:solidFill>
                <a:srgbClr val="000000"/>
              </a:solidFill>
              <a:effectLst/>
              <a:latin typeface="Segoe UI" panose="020B0502040204020203" pitchFamily="34" charset="0"/>
            </a:endParaRPr>
          </a:p>
          <a:p>
            <a:endParaRPr lang="en-GB" dirty="0"/>
          </a:p>
        </p:txBody>
      </p:sp>
      <p:sp>
        <p:nvSpPr>
          <p:cNvPr id="4" name="Slide Number Placeholder 3"/>
          <p:cNvSpPr>
            <a:spLocks noGrp="1"/>
          </p:cNvSpPr>
          <p:nvPr>
            <p:ph type="sldNum" sz="quarter" idx="5"/>
          </p:nvPr>
        </p:nvSpPr>
        <p:spPr/>
        <p:txBody>
          <a:bodyPr/>
          <a:lstStyle/>
          <a:p>
            <a:fld id="{A9B62352-6FD5-4778-BEFC-67EDF118333B}" type="slidenum">
              <a:rPr lang="en-GB" smtClean="0"/>
              <a:t>8</a:t>
            </a:fld>
            <a:endParaRPr lang="en-GB"/>
          </a:p>
        </p:txBody>
      </p:sp>
    </p:spTree>
    <p:extLst>
      <p:ext uri="{BB962C8B-B14F-4D97-AF65-F5344CB8AC3E}">
        <p14:creationId xmlns:p14="http://schemas.microsoft.com/office/powerpoint/2010/main" val="3623339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b="0" i="0" dirty="0">
                <a:solidFill>
                  <a:srgbClr val="000000"/>
                </a:solidFill>
                <a:effectLst/>
                <a:latin typeface="Calibri" panose="020F0502020204030204" pitchFamily="34" charset="0"/>
              </a:rPr>
              <a:t>So next we will look at potential patterns, how they benefit our code, and how we implemented them.  </a:t>
            </a:r>
            <a:endParaRPr lang="en-GB" dirty="0"/>
          </a:p>
        </p:txBody>
      </p:sp>
      <p:sp>
        <p:nvSpPr>
          <p:cNvPr id="4" name="Slide Number Placeholder 3"/>
          <p:cNvSpPr>
            <a:spLocks noGrp="1"/>
          </p:cNvSpPr>
          <p:nvPr>
            <p:ph type="sldNum" sz="quarter" idx="5"/>
          </p:nvPr>
        </p:nvSpPr>
        <p:spPr/>
        <p:txBody>
          <a:bodyPr/>
          <a:lstStyle/>
          <a:p>
            <a:fld id="{A9B62352-6FD5-4778-BEFC-67EDF118333B}" type="slidenum">
              <a:rPr lang="en-GB" smtClean="0"/>
              <a:t>9</a:t>
            </a:fld>
            <a:endParaRPr lang="en-GB"/>
          </a:p>
        </p:txBody>
      </p:sp>
    </p:spTree>
    <p:extLst>
      <p:ext uri="{BB962C8B-B14F-4D97-AF65-F5344CB8AC3E}">
        <p14:creationId xmlns:p14="http://schemas.microsoft.com/office/powerpoint/2010/main" val="2456356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b="0" i="0" dirty="0">
                <a:solidFill>
                  <a:srgbClr val="000000"/>
                </a:solidFill>
                <a:effectLst/>
                <a:latin typeface="Calibri" panose="020F0502020204030204" pitchFamily="34" charset="0"/>
              </a:rPr>
              <a:t>The iterator pattern provides a way to access elements of a collection without exposing its internal structure.  </a:t>
            </a:r>
          </a:p>
          <a:p>
            <a:endParaRPr lang="en-GB" sz="1800" b="0" i="0" dirty="0">
              <a:solidFill>
                <a:srgbClr val="000000"/>
              </a:solidFill>
              <a:effectLst/>
              <a:latin typeface="Calibri" panose="020F0502020204030204" pitchFamily="34" charset="0"/>
            </a:endParaRPr>
          </a:p>
          <a:p>
            <a:r>
              <a:rPr lang="en-GB" sz="1800" b="0" i="0" dirty="0">
                <a:solidFill>
                  <a:srgbClr val="000000"/>
                </a:solidFill>
                <a:effectLst/>
                <a:latin typeface="Calibri" panose="020F0502020204030204" pitchFamily="34" charset="0"/>
              </a:rPr>
              <a:t>It provides a easier way to traverse collections, mitigating issues that are present with list issues //</a:t>
            </a:r>
            <a:r>
              <a:rPr lang="en-GB" sz="1800" b="0" i="0" dirty="0">
                <a:solidFill>
                  <a:srgbClr val="C00000"/>
                </a:solidFill>
                <a:effectLst/>
                <a:latin typeface="Calibri" panose="020F0502020204030204" pitchFamily="34" charset="0"/>
              </a:rPr>
              <a:t>Such as being required to write operations for different traversals.// </a:t>
            </a:r>
          </a:p>
          <a:p>
            <a:endParaRPr lang="en-GB" sz="1800" b="0" i="0" dirty="0">
              <a:solidFill>
                <a:srgbClr val="000000"/>
              </a:solidFill>
              <a:effectLst/>
              <a:latin typeface="Calibri" panose="020F0502020204030204" pitchFamily="34" charset="0"/>
            </a:endParaRPr>
          </a:p>
          <a:p>
            <a:r>
              <a:rPr lang="en-GB" sz="1800" b="0" i="0" dirty="0">
                <a:solidFill>
                  <a:srgbClr val="000000"/>
                </a:solidFill>
                <a:effectLst/>
                <a:latin typeface="Calibri" panose="020F0502020204030204" pitchFamily="34" charset="0"/>
              </a:rPr>
              <a:t> </a:t>
            </a:r>
            <a:r>
              <a:rPr lang="en-GB" sz="1800" b="0" i="0" dirty="0">
                <a:effectLst/>
                <a:latin typeface="Calibri" panose="020F0502020204030204" pitchFamily="34" charset="0"/>
              </a:rPr>
              <a:t>The iterator pattern takes responsibility for accessing and traversing the collection by putting it into a iterator object which is responsible for knowing the current state of its traversal and can support multiple traversals. </a:t>
            </a:r>
          </a:p>
          <a:p>
            <a:endParaRPr lang="en-GB" sz="1800" b="0" i="0" dirty="0">
              <a:effectLst/>
              <a:latin typeface="Calibri" panose="020F0502020204030204" pitchFamily="34" charset="0"/>
            </a:endParaRPr>
          </a:p>
          <a:p>
            <a:r>
              <a:rPr lang="en-GB" sz="1800" b="0" i="0" dirty="0">
                <a:effectLst/>
                <a:latin typeface="Calibri" panose="020F0502020204030204" pitchFamily="34" charset="0"/>
              </a:rPr>
              <a:t> It also provides a uniform interface for traversing different collection structures. </a:t>
            </a:r>
          </a:p>
          <a:p>
            <a:endParaRPr lang="en-GB" sz="1800" b="0" i="0" dirty="0">
              <a:effectLst/>
              <a:latin typeface="Calibri" panose="020F0502020204030204" pitchFamily="34" charset="0"/>
            </a:endParaRPr>
          </a:p>
          <a:p>
            <a:r>
              <a:rPr lang="en-GB" sz="1800" b="0" i="0" dirty="0">
                <a:effectLst/>
                <a:latin typeface="Calibri" panose="020F0502020204030204" pitchFamily="34" charset="0"/>
              </a:rPr>
              <a:t>This pattern allows for the collections within my code to be encapsulated by providing a iterator interface which could be used for multiple types of object collections such as </a:t>
            </a:r>
            <a:r>
              <a:rPr lang="en-GB" sz="1800" b="0" i="0" dirty="0" err="1">
                <a:effectLst/>
                <a:latin typeface="Calibri" panose="020F0502020204030204" pitchFamily="34" charset="0"/>
              </a:rPr>
              <a:t>staffUser</a:t>
            </a:r>
            <a:r>
              <a:rPr lang="en-GB" sz="1800" b="0" i="0" dirty="0">
                <a:effectLst/>
                <a:latin typeface="Calibri" panose="020F0502020204030204" pitchFamily="34" charset="0"/>
              </a:rPr>
              <a:t>, </a:t>
            </a:r>
            <a:r>
              <a:rPr lang="en-GB" sz="1800" b="0" i="0" dirty="0" err="1">
                <a:effectLst/>
                <a:latin typeface="Calibri" panose="020F0502020204030204" pitchFamily="34" charset="0"/>
              </a:rPr>
              <a:t>userSkill</a:t>
            </a:r>
            <a:r>
              <a:rPr lang="en-GB" sz="1800" b="0" i="0" dirty="0">
                <a:effectLst/>
                <a:latin typeface="Calibri" panose="020F0502020204030204" pitchFamily="34" charset="0"/>
              </a:rPr>
              <a:t>, manager and category models. </a:t>
            </a:r>
            <a:endParaRPr lang="en-GB" dirty="0"/>
          </a:p>
        </p:txBody>
      </p:sp>
      <p:sp>
        <p:nvSpPr>
          <p:cNvPr id="4" name="Slide Number Placeholder 3"/>
          <p:cNvSpPr>
            <a:spLocks noGrp="1"/>
          </p:cNvSpPr>
          <p:nvPr>
            <p:ph type="sldNum" sz="quarter" idx="5"/>
          </p:nvPr>
        </p:nvSpPr>
        <p:spPr/>
        <p:txBody>
          <a:bodyPr/>
          <a:lstStyle/>
          <a:p>
            <a:fld id="{A9B62352-6FD5-4778-BEFC-67EDF118333B}" type="slidenum">
              <a:rPr lang="en-GB" smtClean="0"/>
              <a:t>10</a:t>
            </a:fld>
            <a:endParaRPr lang="en-GB"/>
          </a:p>
        </p:txBody>
      </p:sp>
    </p:spTree>
    <p:extLst>
      <p:ext uri="{BB962C8B-B14F-4D97-AF65-F5344CB8AC3E}">
        <p14:creationId xmlns:p14="http://schemas.microsoft.com/office/powerpoint/2010/main" val="776937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b="0" i="0" dirty="0">
                <a:solidFill>
                  <a:srgbClr val="000000"/>
                </a:solidFill>
                <a:effectLst/>
                <a:latin typeface="Calibri" panose="020F0502020204030204" pitchFamily="34" charset="0"/>
              </a:rPr>
              <a:t>The Next design pattern to consider is the strategy pattern. </a:t>
            </a:r>
          </a:p>
          <a:p>
            <a:endParaRPr lang="en-GB" sz="1800" b="0" i="0" dirty="0">
              <a:solidFill>
                <a:srgbClr val="000000"/>
              </a:solidFill>
              <a:effectLst/>
              <a:latin typeface="Calibri" panose="020F0502020204030204" pitchFamily="34" charset="0"/>
            </a:endParaRPr>
          </a:p>
          <a:p>
            <a:r>
              <a:rPr lang="en-GB" sz="1800" b="0" i="0" dirty="0">
                <a:solidFill>
                  <a:srgbClr val="000000"/>
                </a:solidFill>
                <a:effectLst/>
                <a:latin typeface="Calibri" panose="020F0502020204030204" pitchFamily="34" charset="0"/>
              </a:rPr>
              <a:t>The strategy pattern benefits the code due to introducing the benefit of reuse to our validator without it being dependent on inheritance and therefore allows us to use the validator across a wider range of objects. It also allows us to change behaviour more flexibly, as rather then hardcoding our validation within our code, we instead validate our skills as we create a new skill object. </a:t>
            </a:r>
          </a:p>
          <a:p>
            <a:endParaRPr lang="en-GB" sz="1800" b="0" i="0" dirty="0">
              <a:solidFill>
                <a:srgbClr val="000000"/>
              </a:solidFill>
              <a:effectLst/>
              <a:latin typeface="Calibri" panose="020F0502020204030204" pitchFamily="34" charset="0"/>
            </a:endParaRPr>
          </a:p>
          <a:p>
            <a:r>
              <a:rPr lang="en-GB" sz="1800" b="0" i="0" dirty="0">
                <a:solidFill>
                  <a:srgbClr val="000000"/>
                </a:solidFill>
                <a:effectLst/>
                <a:latin typeface="Calibri" panose="020F0502020204030204" pitchFamily="34" charset="0"/>
              </a:rPr>
              <a:t>First a interface is created which contains the method that needs to be implemented. </a:t>
            </a:r>
          </a:p>
          <a:p>
            <a:endParaRPr lang="en-GB" sz="1800" b="0" i="0" dirty="0">
              <a:solidFill>
                <a:srgbClr val="000000"/>
              </a:solidFill>
              <a:effectLst/>
              <a:latin typeface="Calibri" panose="020F0502020204030204" pitchFamily="34" charset="0"/>
            </a:endParaRPr>
          </a:p>
          <a:p>
            <a:r>
              <a:rPr lang="en-GB" sz="1800" b="0" i="0" dirty="0">
                <a:solidFill>
                  <a:srgbClr val="000000"/>
                </a:solidFill>
                <a:effectLst/>
                <a:latin typeface="Calibri" panose="020F0502020204030204" pitchFamily="34" charset="0"/>
              </a:rPr>
              <a:t>Concrete classes are then created which contain the implementation of the interface. </a:t>
            </a:r>
          </a:p>
          <a:p>
            <a:endParaRPr lang="en-GB" sz="1800" b="0" i="0" dirty="0">
              <a:solidFill>
                <a:srgbClr val="000000"/>
              </a:solidFill>
              <a:effectLst/>
              <a:latin typeface="Calibri" panose="020F0502020204030204" pitchFamily="34" charset="0"/>
            </a:endParaRPr>
          </a:p>
          <a:p>
            <a:r>
              <a:rPr lang="en-GB" sz="1800" b="0" i="0" dirty="0">
                <a:solidFill>
                  <a:srgbClr val="000000"/>
                </a:solidFill>
                <a:effectLst/>
                <a:latin typeface="Calibri" panose="020F0502020204030204" pitchFamily="34" charset="0"/>
              </a:rPr>
              <a:t>This provides the code flexibility as additional concreate classes with new implementations of behaviour could be added, without requiring changing the existing code. </a:t>
            </a:r>
            <a:endParaRPr lang="en-GB" dirty="0"/>
          </a:p>
        </p:txBody>
      </p:sp>
      <p:sp>
        <p:nvSpPr>
          <p:cNvPr id="4" name="Slide Number Placeholder 3"/>
          <p:cNvSpPr>
            <a:spLocks noGrp="1"/>
          </p:cNvSpPr>
          <p:nvPr>
            <p:ph type="sldNum" sz="quarter" idx="5"/>
          </p:nvPr>
        </p:nvSpPr>
        <p:spPr/>
        <p:txBody>
          <a:bodyPr/>
          <a:lstStyle/>
          <a:p>
            <a:fld id="{A9B62352-6FD5-4778-BEFC-67EDF118333B}" type="slidenum">
              <a:rPr lang="en-GB" smtClean="0"/>
              <a:t>12</a:t>
            </a:fld>
            <a:endParaRPr lang="en-GB"/>
          </a:p>
        </p:txBody>
      </p:sp>
    </p:spTree>
    <p:extLst>
      <p:ext uri="{BB962C8B-B14F-4D97-AF65-F5344CB8AC3E}">
        <p14:creationId xmlns:p14="http://schemas.microsoft.com/office/powerpoint/2010/main" val="5532384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b="0" i="0" dirty="0">
                <a:solidFill>
                  <a:srgbClr val="000000"/>
                </a:solidFill>
                <a:effectLst/>
                <a:latin typeface="Calibri" panose="020F0502020204030204" pitchFamily="34" charset="0"/>
              </a:rPr>
              <a:t>The Factory Method design pattern is a creational pattern that provides an interface for creating objects but delegates the responsibility of instantiation to subclasses. It allows a class to defer object creation to its subclasses, enabling them to decide the type and implementation details of the object that will be created.  </a:t>
            </a:r>
            <a:br>
              <a:rPr lang="en-GB" sz="1800" b="0" i="0" dirty="0">
                <a:solidFill>
                  <a:srgbClr val="000000"/>
                </a:solidFill>
                <a:effectLst/>
                <a:latin typeface="Calibri" panose="020F0502020204030204" pitchFamily="34" charset="0"/>
              </a:rPr>
            </a:br>
            <a:br>
              <a:rPr lang="en-GB" sz="1800" b="0" i="0" dirty="0">
                <a:solidFill>
                  <a:srgbClr val="000000"/>
                </a:solidFill>
                <a:effectLst/>
                <a:latin typeface="Calibri" panose="020F0502020204030204" pitchFamily="34" charset="0"/>
              </a:rPr>
            </a:br>
            <a:r>
              <a:rPr lang="en-GB" sz="1800" b="0" i="0" dirty="0">
                <a:solidFill>
                  <a:srgbClr val="000000"/>
                </a:solidFill>
                <a:effectLst/>
                <a:latin typeface="Calibri" panose="020F0502020204030204" pitchFamily="34" charset="0"/>
              </a:rPr>
              <a:t>Whereas the Command pattern decouples the invoker of a action from the object that performs the object. </a:t>
            </a:r>
            <a:endParaRPr lang="en-GB" dirty="0"/>
          </a:p>
        </p:txBody>
      </p:sp>
      <p:sp>
        <p:nvSpPr>
          <p:cNvPr id="4" name="Slide Number Placeholder 3"/>
          <p:cNvSpPr>
            <a:spLocks noGrp="1"/>
          </p:cNvSpPr>
          <p:nvPr>
            <p:ph type="sldNum" sz="quarter" idx="5"/>
          </p:nvPr>
        </p:nvSpPr>
        <p:spPr/>
        <p:txBody>
          <a:bodyPr/>
          <a:lstStyle/>
          <a:p>
            <a:fld id="{A9B62352-6FD5-4778-BEFC-67EDF118333B}" type="slidenum">
              <a:rPr lang="en-GB" smtClean="0"/>
              <a:t>14</a:t>
            </a:fld>
            <a:endParaRPr lang="en-GB"/>
          </a:p>
        </p:txBody>
      </p:sp>
    </p:spTree>
    <p:extLst>
      <p:ext uri="{BB962C8B-B14F-4D97-AF65-F5344CB8AC3E}">
        <p14:creationId xmlns:p14="http://schemas.microsoft.com/office/powerpoint/2010/main" val="2053953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dirty="0"/>
            </a:br>
            <a:r>
              <a:rPr lang="en-GB" b="0" i="0" dirty="0">
                <a:solidFill>
                  <a:srgbClr val="D1D5DB"/>
                </a:solidFill>
                <a:effectLst/>
                <a:latin typeface="Söhne"/>
              </a:rPr>
              <a:t>The Facade design pattern is a structural pattern in object-oriented programming (OOP) that provides a simplified interface or a higher-level interface to a complex subsystem or set of classes. It aims to hide the complexities of the underlying system and provide a convenient way for clients to interact with it.</a:t>
            </a:r>
            <a:endParaRPr lang="en-GB" dirty="0"/>
          </a:p>
        </p:txBody>
      </p:sp>
      <p:sp>
        <p:nvSpPr>
          <p:cNvPr id="4" name="Slide Number Placeholder 3"/>
          <p:cNvSpPr>
            <a:spLocks noGrp="1"/>
          </p:cNvSpPr>
          <p:nvPr>
            <p:ph type="sldNum" sz="quarter" idx="5"/>
          </p:nvPr>
        </p:nvSpPr>
        <p:spPr/>
        <p:txBody>
          <a:bodyPr/>
          <a:lstStyle/>
          <a:p>
            <a:fld id="{A9B62352-6FD5-4778-BEFC-67EDF118333B}" type="slidenum">
              <a:rPr lang="en-GB" smtClean="0"/>
              <a:t>16</a:t>
            </a:fld>
            <a:endParaRPr lang="en-GB"/>
          </a:p>
        </p:txBody>
      </p:sp>
    </p:spTree>
    <p:extLst>
      <p:ext uri="{BB962C8B-B14F-4D97-AF65-F5344CB8AC3E}">
        <p14:creationId xmlns:p14="http://schemas.microsoft.com/office/powerpoint/2010/main" val="17146855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Singleton works by creating one instance and then when </a:t>
            </a:r>
            <a:r>
              <a:rPr lang="en-GB" dirty="0" err="1"/>
              <a:t>getInstance</a:t>
            </a:r>
            <a:r>
              <a:rPr lang="en-GB" dirty="0"/>
              <a:t> is called on the singleton it returns that one instance stopping another instance being created. </a:t>
            </a:r>
          </a:p>
        </p:txBody>
      </p:sp>
      <p:sp>
        <p:nvSpPr>
          <p:cNvPr id="4" name="Slide Number Placeholder 3"/>
          <p:cNvSpPr>
            <a:spLocks noGrp="1"/>
          </p:cNvSpPr>
          <p:nvPr>
            <p:ph type="sldNum" sz="quarter" idx="5"/>
          </p:nvPr>
        </p:nvSpPr>
        <p:spPr/>
        <p:txBody>
          <a:bodyPr/>
          <a:lstStyle/>
          <a:p>
            <a:fld id="{A9B62352-6FD5-4778-BEFC-67EDF118333B}" type="slidenum">
              <a:rPr lang="en-GB" smtClean="0"/>
              <a:t>18</a:t>
            </a:fld>
            <a:endParaRPr lang="en-GB"/>
          </a:p>
        </p:txBody>
      </p:sp>
    </p:spTree>
    <p:extLst>
      <p:ext uri="{BB962C8B-B14F-4D97-AF65-F5344CB8AC3E}">
        <p14:creationId xmlns:p14="http://schemas.microsoft.com/office/powerpoint/2010/main" val="587120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SE2</a:t>
            </a:r>
            <a:r>
              <a:rPr lang="en-GB" dirty="0"/>
              <a:t> – the entire projects, A1, designing the project, analysing needs, and creating </a:t>
            </a:r>
            <a:r>
              <a:rPr lang="en-GB" dirty="0" err="1"/>
              <a:t>usecases</a:t>
            </a:r>
            <a:endParaRPr lang="en-GB" dirty="0"/>
          </a:p>
          <a:p>
            <a:endParaRPr lang="en-GB" dirty="0"/>
          </a:p>
          <a:p>
            <a:pPr algn="l">
              <a:buFont typeface="Arial" panose="020B0604020202020204" pitchFamily="34" charset="0"/>
              <a:buChar char="•"/>
            </a:pPr>
            <a:r>
              <a:rPr lang="en-GB" dirty="0" err="1"/>
              <a:t>SE9</a:t>
            </a:r>
            <a:r>
              <a:rPr lang="en-GB" dirty="0"/>
              <a:t> – </a:t>
            </a:r>
          </a:p>
          <a:p>
            <a:pPr algn="l">
              <a:buFont typeface="Arial" panose="020B0604020202020204" pitchFamily="34" charset="0"/>
              <a:buChar char="•"/>
            </a:pPr>
            <a:r>
              <a:rPr lang="en-GB" b="0" i="0" dirty="0">
                <a:solidFill>
                  <a:srgbClr val="BDC1C6"/>
                </a:solidFill>
                <a:effectLst/>
                <a:latin typeface="Google Sans"/>
              </a:rPr>
              <a:t>Requirements &amp; Analysis.</a:t>
            </a:r>
          </a:p>
          <a:p>
            <a:pPr algn="l">
              <a:buFont typeface="Arial" panose="020B0604020202020204" pitchFamily="34" charset="0"/>
              <a:buChar char="•"/>
            </a:pPr>
            <a:r>
              <a:rPr lang="en-GB" b="0" i="0" dirty="0">
                <a:solidFill>
                  <a:srgbClr val="BDC1C6"/>
                </a:solidFill>
                <a:effectLst/>
                <a:latin typeface="Google Sans"/>
              </a:rPr>
              <a:t>Project Planning.</a:t>
            </a:r>
          </a:p>
          <a:p>
            <a:pPr algn="l">
              <a:buFont typeface="Arial" panose="020B0604020202020204" pitchFamily="34" charset="0"/>
              <a:buChar char="•"/>
            </a:pPr>
            <a:r>
              <a:rPr lang="en-GB" b="0" i="0" dirty="0">
                <a:solidFill>
                  <a:srgbClr val="BDC1C6"/>
                </a:solidFill>
                <a:effectLst/>
                <a:latin typeface="Google Sans"/>
              </a:rPr>
              <a:t>Design.</a:t>
            </a:r>
          </a:p>
          <a:p>
            <a:pPr algn="l">
              <a:buFont typeface="Arial" panose="020B0604020202020204" pitchFamily="34" charset="0"/>
              <a:buChar char="•"/>
            </a:pPr>
            <a:r>
              <a:rPr lang="en-GB" b="0" i="0" dirty="0">
                <a:solidFill>
                  <a:srgbClr val="BDC1C6"/>
                </a:solidFill>
                <a:effectLst/>
                <a:latin typeface="Google Sans"/>
              </a:rPr>
              <a:t>Coding &amp; Implementation.</a:t>
            </a:r>
          </a:p>
          <a:p>
            <a:pPr algn="l">
              <a:buFont typeface="Arial" panose="020B0604020202020204" pitchFamily="34" charset="0"/>
              <a:buChar char="•"/>
            </a:pPr>
            <a:r>
              <a:rPr lang="en-GB" b="0" i="0" dirty="0">
                <a:solidFill>
                  <a:srgbClr val="BDC1C6"/>
                </a:solidFill>
                <a:effectLst/>
                <a:latin typeface="Google Sans"/>
              </a:rPr>
              <a:t>Testing.</a:t>
            </a:r>
          </a:p>
          <a:p>
            <a:pPr algn="l">
              <a:buFont typeface="Arial" panose="020B0604020202020204" pitchFamily="34" charset="0"/>
              <a:buChar char="•"/>
            </a:pPr>
            <a:r>
              <a:rPr lang="en-GB" b="0" i="0" dirty="0">
                <a:solidFill>
                  <a:srgbClr val="BDC1C6"/>
                </a:solidFill>
                <a:effectLst/>
                <a:latin typeface="Google Sans"/>
              </a:rPr>
              <a:t>Deployment.</a:t>
            </a:r>
          </a:p>
          <a:p>
            <a:pPr algn="l">
              <a:buFont typeface="Arial" panose="020B0604020202020204" pitchFamily="34" charset="0"/>
              <a:buChar char="•"/>
            </a:pPr>
            <a:r>
              <a:rPr lang="en-GB" b="0" i="0" dirty="0">
                <a:solidFill>
                  <a:srgbClr val="BDC1C6"/>
                </a:solidFill>
                <a:effectLst/>
                <a:latin typeface="Google Sans"/>
              </a:rPr>
              <a:t>Maintenance.</a:t>
            </a:r>
          </a:p>
          <a:p>
            <a:pPr algn="l">
              <a:buFont typeface="Arial" panose="020B0604020202020204" pitchFamily="34" charset="0"/>
              <a:buChar char="•"/>
            </a:pPr>
            <a:endParaRPr lang="en-GB" b="0" i="0" dirty="0">
              <a:solidFill>
                <a:srgbClr val="BDC1C6"/>
              </a:solidFill>
              <a:effectLst/>
              <a:latin typeface="Google Sans"/>
            </a:endParaRPr>
          </a:p>
          <a:p>
            <a:pPr algn="l">
              <a:buFont typeface="Arial" panose="020B0604020202020204" pitchFamily="34" charset="0"/>
              <a:buNone/>
            </a:pPr>
            <a:r>
              <a:rPr lang="en-GB" b="0" i="0" dirty="0" err="1">
                <a:solidFill>
                  <a:srgbClr val="BDC1C6"/>
                </a:solidFill>
                <a:effectLst/>
                <a:latin typeface="Google Sans"/>
              </a:rPr>
              <a:t>SE11</a:t>
            </a:r>
            <a:r>
              <a:rPr lang="en-GB" b="0" i="0" dirty="0">
                <a:solidFill>
                  <a:srgbClr val="BDC1C6"/>
                </a:solidFill>
                <a:effectLst/>
                <a:latin typeface="Google Sans"/>
              </a:rPr>
              <a:t> – During the refactor we analysed our existing solution and reconsidered how we could improve our code by implementing design patterns. </a:t>
            </a:r>
          </a:p>
          <a:p>
            <a:endParaRPr lang="en-GB" dirty="0"/>
          </a:p>
        </p:txBody>
      </p:sp>
      <p:sp>
        <p:nvSpPr>
          <p:cNvPr id="4" name="Slide Number Placeholder 3"/>
          <p:cNvSpPr>
            <a:spLocks noGrp="1"/>
          </p:cNvSpPr>
          <p:nvPr>
            <p:ph type="sldNum" sz="quarter" idx="5"/>
          </p:nvPr>
        </p:nvSpPr>
        <p:spPr/>
        <p:txBody>
          <a:bodyPr/>
          <a:lstStyle/>
          <a:p>
            <a:fld id="{A9B62352-6FD5-4778-BEFC-67EDF118333B}" type="slidenum">
              <a:rPr lang="en-GB" smtClean="0"/>
              <a:t>25</a:t>
            </a:fld>
            <a:endParaRPr lang="en-GB"/>
          </a:p>
        </p:txBody>
      </p:sp>
    </p:spTree>
    <p:extLst>
      <p:ext uri="{BB962C8B-B14F-4D97-AF65-F5344CB8AC3E}">
        <p14:creationId xmlns:p14="http://schemas.microsoft.com/office/powerpoint/2010/main" val="117972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AA57A5-8F95-4764-8F86-BC451BD93E1E}" type="datetimeFigureOut">
              <a:rPr lang="en-GB" smtClean="0"/>
              <a:t>25/06/2023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CA9A53-F545-4C18-B7B7-40C2260A64A8}" type="slidenum">
              <a:rPr lang="en-GB" smtClean="0"/>
              <a:t>‹#›</a:t>
            </a:fld>
            <a:endParaRPr lang="en-GB"/>
          </a:p>
        </p:txBody>
      </p:sp>
    </p:spTree>
    <p:extLst>
      <p:ext uri="{BB962C8B-B14F-4D97-AF65-F5344CB8AC3E}">
        <p14:creationId xmlns:p14="http://schemas.microsoft.com/office/powerpoint/2010/main" val="3392759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AA57A5-8F95-4764-8F86-BC451BD93E1E}" type="datetimeFigureOut">
              <a:rPr lang="en-GB" smtClean="0"/>
              <a:t>25/06/2023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CA9A53-F545-4C18-B7B7-40C2260A64A8}" type="slidenum">
              <a:rPr lang="en-GB" smtClean="0"/>
              <a:t>‹#›</a:t>
            </a:fld>
            <a:endParaRPr lang="en-GB"/>
          </a:p>
        </p:txBody>
      </p:sp>
    </p:spTree>
    <p:extLst>
      <p:ext uri="{BB962C8B-B14F-4D97-AF65-F5344CB8AC3E}">
        <p14:creationId xmlns:p14="http://schemas.microsoft.com/office/powerpoint/2010/main" val="361554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AA57A5-8F95-4764-8F86-BC451BD93E1E}" type="datetimeFigureOut">
              <a:rPr lang="en-GB" smtClean="0"/>
              <a:t>25/06/2023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CA9A53-F545-4C18-B7B7-40C2260A64A8}" type="slidenum">
              <a:rPr lang="en-GB" smtClean="0"/>
              <a:t>‹#›</a:t>
            </a:fld>
            <a:endParaRPr lang="en-GB"/>
          </a:p>
        </p:txBody>
      </p:sp>
    </p:spTree>
    <p:extLst>
      <p:ext uri="{BB962C8B-B14F-4D97-AF65-F5344CB8AC3E}">
        <p14:creationId xmlns:p14="http://schemas.microsoft.com/office/powerpoint/2010/main" val="2291809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AA57A5-8F95-4764-8F86-BC451BD93E1E}" type="datetimeFigureOut">
              <a:rPr lang="en-GB" smtClean="0"/>
              <a:t>25/06/2023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1CA9A53-F545-4C18-B7B7-40C2260A64A8}" type="slidenum">
              <a:rPr lang="en-GB" smtClean="0"/>
              <a:t>‹#›</a:t>
            </a:fld>
            <a:endParaRPr lang="en-GB"/>
          </a:p>
        </p:txBody>
      </p:sp>
    </p:spTree>
    <p:extLst>
      <p:ext uri="{BB962C8B-B14F-4D97-AF65-F5344CB8AC3E}">
        <p14:creationId xmlns:p14="http://schemas.microsoft.com/office/powerpoint/2010/main" val="3162196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AA57A5-8F95-4764-8F86-BC451BD93E1E}" type="datetimeFigureOut">
              <a:rPr lang="en-GB" smtClean="0"/>
              <a:t>25/06/2023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1CA9A53-F545-4C18-B7B7-40C2260A64A8}" type="slidenum">
              <a:rPr lang="en-GB" smtClean="0"/>
              <a:t>‹#›</a:t>
            </a:fld>
            <a:endParaRPr lang="en-GB"/>
          </a:p>
        </p:txBody>
      </p:sp>
    </p:spTree>
    <p:extLst>
      <p:ext uri="{BB962C8B-B14F-4D97-AF65-F5344CB8AC3E}">
        <p14:creationId xmlns:p14="http://schemas.microsoft.com/office/powerpoint/2010/main" val="127236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AA57A5-8F95-4764-8F86-BC451BD93E1E}" type="datetimeFigureOut">
              <a:rPr lang="en-GB" smtClean="0"/>
              <a:t>25/06/2023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1CA9A53-F545-4C18-B7B7-40C2260A64A8}" type="slidenum">
              <a:rPr lang="en-GB" smtClean="0"/>
              <a:t>‹#›</a:t>
            </a:fld>
            <a:endParaRPr lang="en-GB"/>
          </a:p>
        </p:txBody>
      </p:sp>
    </p:spTree>
    <p:extLst>
      <p:ext uri="{BB962C8B-B14F-4D97-AF65-F5344CB8AC3E}">
        <p14:creationId xmlns:p14="http://schemas.microsoft.com/office/powerpoint/2010/main" val="2452034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AA57A5-8F95-4764-8F86-BC451BD93E1E}" type="datetimeFigureOut">
              <a:rPr lang="en-GB" smtClean="0"/>
              <a:t>25/06/2023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1CA9A53-F545-4C18-B7B7-40C2260A64A8}" type="slidenum">
              <a:rPr lang="en-GB" smtClean="0"/>
              <a:t>‹#›</a:t>
            </a:fld>
            <a:endParaRPr lang="en-GB"/>
          </a:p>
        </p:txBody>
      </p:sp>
    </p:spTree>
    <p:extLst>
      <p:ext uri="{BB962C8B-B14F-4D97-AF65-F5344CB8AC3E}">
        <p14:creationId xmlns:p14="http://schemas.microsoft.com/office/powerpoint/2010/main" val="550220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AA57A5-8F95-4764-8F86-BC451BD93E1E}" type="datetimeFigureOut">
              <a:rPr lang="en-GB" smtClean="0"/>
              <a:t>25/06/2023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1CA9A53-F545-4C18-B7B7-40C2260A64A8}" type="slidenum">
              <a:rPr lang="en-GB" smtClean="0"/>
              <a:t>‹#›</a:t>
            </a:fld>
            <a:endParaRPr lang="en-GB"/>
          </a:p>
        </p:txBody>
      </p:sp>
    </p:spTree>
    <p:extLst>
      <p:ext uri="{BB962C8B-B14F-4D97-AF65-F5344CB8AC3E}">
        <p14:creationId xmlns:p14="http://schemas.microsoft.com/office/powerpoint/2010/main" val="3949789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AA57A5-8F95-4764-8F86-BC451BD93E1E}" type="datetimeFigureOut">
              <a:rPr lang="en-GB" smtClean="0"/>
              <a:t>25/06/2023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1CA9A53-F545-4C18-B7B7-40C2260A64A8}" type="slidenum">
              <a:rPr lang="en-GB" smtClean="0"/>
              <a:t>‹#›</a:t>
            </a:fld>
            <a:endParaRPr lang="en-GB"/>
          </a:p>
        </p:txBody>
      </p:sp>
    </p:spTree>
    <p:extLst>
      <p:ext uri="{BB962C8B-B14F-4D97-AF65-F5344CB8AC3E}">
        <p14:creationId xmlns:p14="http://schemas.microsoft.com/office/powerpoint/2010/main" val="2567244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AA57A5-8F95-4764-8F86-BC451BD93E1E}" type="datetimeFigureOut">
              <a:rPr lang="en-GB" smtClean="0"/>
              <a:t>25/06/2023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CA9A53-F545-4C18-B7B7-40C2260A64A8}" type="slidenum">
              <a:rPr lang="en-GB" smtClean="0"/>
              <a:t>‹#›</a:t>
            </a:fld>
            <a:endParaRPr lang="en-GB"/>
          </a:p>
        </p:txBody>
      </p:sp>
    </p:spTree>
    <p:extLst>
      <p:ext uri="{BB962C8B-B14F-4D97-AF65-F5344CB8AC3E}">
        <p14:creationId xmlns:p14="http://schemas.microsoft.com/office/powerpoint/2010/main" val="3824227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AA57A5-8F95-4764-8F86-BC451BD93E1E}" type="datetimeFigureOut">
              <a:rPr lang="en-GB" smtClean="0"/>
              <a:t>25/06/2023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CA9A53-F545-4C18-B7B7-40C2260A64A8}" type="slidenum">
              <a:rPr lang="en-GB" smtClean="0"/>
              <a:t>‹#›</a:t>
            </a:fld>
            <a:endParaRPr lang="en-GB"/>
          </a:p>
        </p:txBody>
      </p:sp>
    </p:spTree>
    <p:extLst>
      <p:ext uri="{BB962C8B-B14F-4D97-AF65-F5344CB8AC3E}">
        <p14:creationId xmlns:p14="http://schemas.microsoft.com/office/powerpoint/2010/main" val="668965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AA57A5-8F95-4764-8F86-BC451BD93E1E}" type="datetimeFigureOut">
              <a:rPr lang="en-GB" smtClean="0"/>
              <a:t>25/06/2023</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CA9A53-F545-4C18-B7B7-40C2260A64A8}" type="slidenum">
              <a:rPr lang="en-GB" smtClean="0"/>
              <a:t>‹#›</a:t>
            </a:fld>
            <a:endParaRPr lang="en-GB"/>
          </a:p>
        </p:txBody>
      </p:sp>
    </p:spTree>
    <p:extLst>
      <p:ext uri="{BB962C8B-B14F-4D97-AF65-F5344CB8AC3E}">
        <p14:creationId xmlns:p14="http://schemas.microsoft.com/office/powerpoint/2010/main" val="30545287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hyperlink" Target="http://www.mcdonaldland.info/"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www.mcdonaldland.info/"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package" Target="../embeddings/Microsoft_PowerPoint_Presentation.pptx"/><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package" Target="../embeddings/Microsoft_PowerPoint_Presentation1.pptx"/><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package" Target="../embeddings/Microsoft_PowerPoint_Presentation2.pptx"/><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package" Target="../embeddings/Microsoft_PowerPoint_Presentation3.pptx"/><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package" Target="../embeddings/Microsoft_PowerPoint_Presentation4.pptx"/><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72662-41D6-6729-947B-A4BE575CFA71}"/>
              </a:ext>
            </a:extLst>
          </p:cNvPr>
          <p:cNvSpPr>
            <a:spLocks noGrp="1"/>
          </p:cNvSpPr>
          <p:nvPr>
            <p:ph type="ctrTitle"/>
          </p:nvPr>
        </p:nvSpPr>
        <p:spPr/>
        <p:txBody>
          <a:bodyPr/>
          <a:lstStyle/>
          <a:p>
            <a:r>
              <a:rPr lang="en-GB" dirty="0"/>
              <a:t>Design Patterns in Object Oriented Programming </a:t>
            </a:r>
          </a:p>
        </p:txBody>
      </p:sp>
      <p:sp>
        <p:nvSpPr>
          <p:cNvPr id="3" name="Subtitle 2">
            <a:extLst>
              <a:ext uri="{FF2B5EF4-FFF2-40B4-BE49-F238E27FC236}">
                <a16:creationId xmlns:a16="http://schemas.microsoft.com/office/drawing/2014/main" id="{4209096C-7573-FB73-2DB9-857473784C92}"/>
              </a:ext>
            </a:extLst>
          </p:cNvPr>
          <p:cNvSpPr>
            <a:spLocks noGrp="1"/>
          </p:cNvSpPr>
          <p:nvPr>
            <p:ph type="subTitle" idx="1"/>
          </p:nvPr>
        </p:nvSpPr>
        <p:spPr/>
        <p:txBody>
          <a:bodyPr/>
          <a:lstStyle/>
          <a:p>
            <a:r>
              <a:rPr lang="en-GB" dirty="0"/>
              <a:t>Catherine Sheen</a:t>
            </a:r>
          </a:p>
        </p:txBody>
      </p:sp>
    </p:spTree>
    <p:extLst>
      <p:ext uri="{BB962C8B-B14F-4D97-AF65-F5344CB8AC3E}">
        <p14:creationId xmlns:p14="http://schemas.microsoft.com/office/powerpoint/2010/main" val="2842399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ECCE6-FEB5-E44F-FFD6-8E4535C7D584}"/>
              </a:ext>
            </a:extLst>
          </p:cNvPr>
          <p:cNvSpPr>
            <a:spLocks noGrp="1"/>
          </p:cNvSpPr>
          <p:nvPr>
            <p:ph type="title"/>
          </p:nvPr>
        </p:nvSpPr>
        <p:spPr/>
        <p:txBody>
          <a:bodyPr/>
          <a:lstStyle/>
          <a:p>
            <a:r>
              <a:rPr lang="en-GB" sz="5400" dirty="0"/>
              <a:t>Contents</a:t>
            </a:r>
            <a:endParaRPr lang="en-GB" dirty="0"/>
          </a:p>
        </p:txBody>
      </p:sp>
      <p:sp>
        <p:nvSpPr>
          <p:cNvPr id="3" name="Content Placeholder 2">
            <a:extLst>
              <a:ext uri="{FF2B5EF4-FFF2-40B4-BE49-F238E27FC236}">
                <a16:creationId xmlns:a16="http://schemas.microsoft.com/office/drawing/2014/main" id="{A3A4374F-A00A-4F6F-AEE4-35102222EB98}"/>
              </a:ext>
            </a:extLst>
          </p:cNvPr>
          <p:cNvSpPr>
            <a:spLocks noGrp="1"/>
          </p:cNvSpPr>
          <p:nvPr>
            <p:ph idx="1"/>
          </p:nvPr>
        </p:nvSpPr>
        <p:spPr/>
        <p:txBody>
          <a:bodyPr>
            <a:normAutofit/>
          </a:bodyPr>
          <a:lstStyle/>
          <a:p>
            <a:r>
              <a:rPr lang="en-GB" sz="3600" dirty="0"/>
              <a:t>Introduction to Design Patterns </a:t>
            </a:r>
          </a:p>
          <a:p>
            <a:endParaRPr lang="en-GB" sz="3600" dirty="0"/>
          </a:p>
          <a:p>
            <a:r>
              <a:rPr lang="en-GB" sz="3600" dirty="0"/>
              <a:t>Potential Patterns, Justified and Implemented </a:t>
            </a:r>
          </a:p>
          <a:p>
            <a:endParaRPr lang="en-GB" sz="3600" dirty="0"/>
          </a:p>
          <a:p>
            <a:r>
              <a:rPr lang="en-GB" sz="3600" dirty="0"/>
              <a:t>Critical Evaluation </a:t>
            </a:r>
          </a:p>
        </p:txBody>
      </p:sp>
    </p:spTree>
    <p:extLst>
      <p:ext uri="{BB962C8B-B14F-4D97-AF65-F5344CB8AC3E}">
        <p14:creationId xmlns:p14="http://schemas.microsoft.com/office/powerpoint/2010/main" val="1728925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F7CB6-2BC1-4B9E-84D3-77E786D08B0A}"/>
              </a:ext>
            </a:extLst>
          </p:cNvPr>
          <p:cNvSpPr>
            <a:spLocks noGrp="1"/>
          </p:cNvSpPr>
          <p:nvPr>
            <p:ph type="title"/>
          </p:nvPr>
        </p:nvSpPr>
        <p:spPr/>
        <p:txBody>
          <a:bodyPr>
            <a:normAutofit/>
          </a:bodyPr>
          <a:lstStyle/>
          <a:p>
            <a:r>
              <a:rPr lang="en-GB" sz="5400" dirty="0"/>
              <a:t>What are Design Patterns	</a:t>
            </a:r>
          </a:p>
        </p:txBody>
      </p:sp>
      <p:sp>
        <p:nvSpPr>
          <p:cNvPr id="3" name="Content Placeholder 2">
            <a:extLst>
              <a:ext uri="{FF2B5EF4-FFF2-40B4-BE49-F238E27FC236}">
                <a16:creationId xmlns:a16="http://schemas.microsoft.com/office/drawing/2014/main" id="{3C990A45-D019-F4A0-F755-B046B81DE63C}"/>
              </a:ext>
            </a:extLst>
          </p:cNvPr>
          <p:cNvSpPr>
            <a:spLocks noGrp="1"/>
          </p:cNvSpPr>
          <p:nvPr>
            <p:ph idx="1"/>
          </p:nvPr>
        </p:nvSpPr>
        <p:spPr/>
        <p:txBody>
          <a:bodyPr numCol="1">
            <a:normAutofit fontScale="85000" lnSpcReduction="20000"/>
          </a:bodyPr>
          <a:lstStyle/>
          <a:p>
            <a:pPr>
              <a:lnSpc>
                <a:spcPct val="100000"/>
              </a:lnSpc>
            </a:pPr>
            <a:r>
              <a:rPr lang="en-GB" sz="4400" dirty="0"/>
              <a:t>Reusable</a:t>
            </a:r>
          </a:p>
          <a:p>
            <a:pPr marL="0" indent="0">
              <a:lnSpc>
                <a:spcPct val="100000"/>
              </a:lnSpc>
              <a:buNone/>
            </a:pPr>
            <a:endParaRPr lang="en-GB" sz="4400" dirty="0"/>
          </a:p>
          <a:p>
            <a:pPr>
              <a:lnSpc>
                <a:spcPct val="100000"/>
              </a:lnSpc>
            </a:pPr>
            <a:r>
              <a:rPr lang="en-GB" sz="4400" dirty="0"/>
              <a:t>Language-agnostic</a:t>
            </a:r>
          </a:p>
          <a:p>
            <a:pPr>
              <a:lnSpc>
                <a:spcPct val="100000"/>
              </a:lnSpc>
            </a:pPr>
            <a:endParaRPr lang="en-GB" sz="4400" dirty="0"/>
          </a:p>
          <a:p>
            <a:pPr>
              <a:lnSpc>
                <a:spcPct val="100000"/>
              </a:lnSpc>
            </a:pPr>
            <a:r>
              <a:rPr lang="en-GB" sz="4400" dirty="0"/>
              <a:t>Provide a shared vocabulary </a:t>
            </a:r>
          </a:p>
          <a:p>
            <a:pPr marL="0" indent="0">
              <a:lnSpc>
                <a:spcPct val="100000"/>
              </a:lnSpc>
              <a:buNone/>
            </a:pPr>
            <a:endParaRPr lang="en-GB" sz="4400" dirty="0"/>
          </a:p>
          <a:p>
            <a:pPr>
              <a:lnSpc>
                <a:spcPct val="100000"/>
              </a:lnSpc>
            </a:pPr>
            <a:r>
              <a:rPr lang="en-GB" sz="4400" dirty="0"/>
              <a:t>Proven</a:t>
            </a:r>
          </a:p>
        </p:txBody>
      </p:sp>
      <p:sp>
        <p:nvSpPr>
          <p:cNvPr id="4" name="Footer Placeholder 3">
            <a:extLst>
              <a:ext uri="{FF2B5EF4-FFF2-40B4-BE49-F238E27FC236}">
                <a16:creationId xmlns:a16="http://schemas.microsoft.com/office/drawing/2014/main" id="{CCD3F8D1-82B2-BFCD-DAA4-C8BE997D80F8}"/>
              </a:ext>
            </a:extLst>
          </p:cNvPr>
          <p:cNvSpPr>
            <a:spLocks noGrp="1"/>
          </p:cNvSpPr>
          <p:nvPr>
            <p:ph type="ftr" sz="quarter" idx="11"/>
          </p:nvPr>
        </p:nvSpPr>
        <p:spPr>
          <a:xfrm>
            <a:off x="112295" y="6311900"/>
            <a:ext cx="11646567" cy="409575"/>
          </a:xfrm>
        </p:spPr>
        <p:txBody>
          <a:bodyPr/>
          <a:lstStyle/>
          <a:p>
            <a:r>
              <a:rPr lang="en-GB" dirty="0"/>
              <a:t>Freeman, E., and Robson, E. (2020) Head First Design Patterns. </a:t>
            </a:r>
          </a:p>
          <a:p>
            <a:r>
              <a:rPr lang="en-GB" dirty="0"/>
              <a:t>Gamma, E., Helm, R., Johnson, R., and </a:t>
            </a:r>
            <a:r>
              <a:rPr lang="en-GB" dirty="0" err="1"/>
              <a:t>Vlissides</a:t>
            </a:r>
            <a:r>
              <a:rPr lang="en-GB" dirty="0"/>
              <a:t>, J. (1994) </a:t>
            </a:r>
            <a:r>
              <a:rPr lang="en-GB" i="1" dirty="0"/>
              <a:t>Design Patterns: Elements of Reusable Object-Oriented Software. </a:t>
            </a:r>
            <a:endParaRPr lang="en-GB" dirty="0"/>
          </a:p>
        </p:txBody>
      </p:sp>
    </p:spTree>
    <p:extLst>
      <p:ext uri="{BB962C8B-B14F-4D97-AF65-F5344CB8AC3E}">
        <p14:creationId xmlns:p14="http://schemas.microsoft.com/office/powerpoint/2010/main" val="1629628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BD302-0663-FFD9-0330-1583246065A6}"/>
              </a:ext>
            </a:extLst>
          </p:cNvPr>
          <p:cNvSpPr>
            <a:spLocks noGrp="1"/>
          </p:cNvSpPr>
          <p:nvPr>
            <p:ph type="title"/>
          </p:nvPr>
        </p:nvSpPr>
        <p:spPr>
          <a:xfrm>
            <a:off x="1358559" y="507718"/>
            <a:ext cx="4215734" cy="1692676"/>
          </a:xfrm>
        </p:spPr>
        <p:txBody>
          <a:bodyPr>
            <a:noAutofit/>
          </a:bodyPr>
          <a:lstStyle/>
          <a:p>
            <a:pPr algn="ctr"/>
            <a:r>
              <a:rPr lang="en-GB" sz="5400" dirty="0"/>
              <a:t>Behavioural </a:t>
            </a:r>
            <a:br>
              <a:rPr lang="en-GB" sz="5400" dirty="0"/>
            </a:br>
            <a:r>
              <a:rPr lang="en-GB" sz="5400" dirty="0"/>
              <a:t>Patterns</a:t>
            </a:r>
          </a:p>
        </p:txBody>
      </p:sp>
      <p:sp>
        <p:nvSpPr>
          <p:cNvPr id="10" name="Footer Placeholder 9">
            <a:extLst>
              <a:ext uri="{FF2B5EF4-FFF2-40B4-BE49-F238E27FC236}">
                <a16:creationId xmlns:a16="http://schemas.microsoft.com/office/drawing/2014/main" id="{EF0D6DE3-41AF-5504-9DF8-29392D7B2BB5}"/>
              </a:ext>
            </a:extLst>
          </p:cNvPr>
          <p:cNvSpPr>
            <a:spLocks noGrp="1"/>
          </p:cNvSpPr>
          <p:nvPr>
            <p:ph type="ftr" sz="quarter" idx="11"/>
          </p:nvPr>
        </p:nvSpPr>
        <p:spPr>
          <a:xfrm>
            <a:off x="-219205" y="0"/>
            <a:ext cx="6322887" cy="352017"/>
          </a:xfrm>
        </p:spPr>
        <p:txBody>
          <a:bodyPr/>
          <a:lstStyle/>
          <a:p>
            <a:r>
              <a:rPr lang="en-GB" dirty="0"/>
              <a:t>McDonald, J. S., (2007) http://www.mcdonaldland.info/</a:t>
            </a:r>
          </a:p>
        </p:txBody>
      </p:sp>
      <p:pic>
        <p:nvPicPr>
          <p:cNvPr id="4" name="Picture 6">
            <a:extLst>
              <a:ext uri="{FF2B5EF4-FFF2-40B4-BE49-F238E27FC236}">
                <a16:creationId xmlns:a16="http://schemas.microsoft.com/office/drawing/2014/main" id="{9C359FD8-71C8-3F57-0529-FE1B405D0AF1}"/>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bwMode="auto">
          <a:xfrm>
            <a:off x="6815983" y="186527"/>
            <a:ext cx="5209292" cy="299541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7E56B15-D7C5-6EEE-B8C9-69C9CF1C6AB0}"/>
              </a:ext>
            </a:extLst>
          </p:cNvPr>
          <p:cNvPicPr>
            <a:picLocks noChangeAspect="1" noChangeArrowheads="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bwMode="auto">
          <a:xfrm>
            <a:off x="6359513" y="3332561"/>
            <a:ext cx="5580071" cy="320854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70DCE990-244E-E20E-E617-117FA9C6D808}"/>
              </a:ext>
            </a:extLst>
          </p:cNvPr>
          <p:cNvPicPr>
            <a:picLocks noChangeAspect="1" noChangeArrowheads="1"/>
          </p:cNvPicPr>
          <p:nvPr/>
        </p:nvPicPr>
        <p:blipFill>
          <a:blip r:embed="rId5">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35400" y="2723614"/>
            <a:ext cx="5209292" cy="3817488"/>
          </a:xfrm>
          <a:prstGeom prst="rect">
            <a:avLst/>
          </a:prstGeom>
          <a:noFill/>
          <a:ln>
            <a:noFill/>
          </a:ln>
          <a:effectLst/>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47F56B3-E874-358C-6542-85B5A7AF3028}"/>
              </a:ext>
            </a:extLst>
          </p:cNvPr>
          <p:cNvSpPr txBox="1"/>
          <p:nvPr/>
        </p:nvSpPr>
        <p:spPr>
          <a:xfrm>
            <a:off x="3800195" y="4109138"/>
            <a:ext cx="1380378" cy="523220"/>
          </a:xfrm>
          <a:prstGeom prst="rect">
            <a:avLst/>
          </a:prstGeom>
          <a:noFill/>
        </p:spPr>
        <p:txBody>
          <a:bodyPr wrap="none" rtlCol="0">
            <a:spAutoFit/>
          </a:bodyPr>
          <a:lstStyle/>
          <a:p>
            <a:r>
              <a:rPr lang="en-GB" sz="2800" dirty="0">
                <a:solidFill>
                  <a:schemeClr val="accent2"/>
                </a:solidFill>
              </a:rPr>
              <a:t>Strategy</a:t>
            </a:r>
          </a:p>
        </p:txBody>
      </p:sp>
      <p:sp>
        <p:nvSpPr>
          <p:cNvPr id="8" name="TextBox 7">
            <a:extLst>
              <a:ext uri="{FF2B5EF4-FFF2-40B4-BE49-F238E27FC236}">
                <a16:creationId xmlns:a16="http://schemas.microsoft.com/office/drawing/2014/main" id="{6D244642-C80E-3B5E-A2B9-89F2CF02B574}"/>
              </a:ext>
            </a:extLst>
          </p:cNvPr>
          <p:cNvSpPr txBox="1"/>
          <p:nvPr/>
        </p:nvSpPr>
        <p:spPr>
          <a:xfrm>
            <a:off x="8774460" y="614350"/>
            <a:ext cx="1688283" cy="523220"/>
          </a:xfrm>
          <a:prstGeom prst="rect">
            <a:avLst/>
          </a:prstGeom>
          <a:noFill/>
        </p:spPr>
        <p:txBody>
          <a:bodyPr wrap="none" rtlCol="0">
            <a:spAutoFit/>
          </a:bodyPr>
          <a:lstStyle/>
          <a:p>
            <a:r>
              <a:rPr lang="en-GB" sz="2800" dirty="0">
                <a:solidFill>
                  <a:schemeClr val="accent1"/>
                </a:solidFill>
              </a:rPr>
              <a:t>Command</a:t>
            </a:r>
          </a:p>
        </p:txBody>
      </p:sp>
      <p:sp>
        <p:nvSpPr>
          <p:cNvPr id="9" name="TextBox 8">
            <a:extLst>
              <a:ext uri="{FF2B5EF4-FFF2-40B4-BE49-F238E27FC236}">
                <a16:creationId xmlns:a16="http://schemas.microsoft.com/office/drawing/2014/main" id="{C309379B-C72A-B767-9578-CC37EF9825D2}"/>
              </a:ext>
            </a:extLst>
          </p:cNvPr>
          <p:cNvSpPr txBox="1"/>
          <p:nvPr/>
        </p:nvSpPr>
        <p:spPr>
          <a:xfrm>
            <a:off x="8702906" y="5101203"/>
            <a:ext cx="1285480" cy="523220"/>
          </a:xfrm>
          <a:prstGeom prst="rect">
            <a:avLst/>
          </a:prstGeom>
          <a:noFill/>
        </p:spPr>
        <p:txBody>
          <a:bodyPr wrap="none" rtlCol="0">
            <a:spAutoFit/>
          </a:bodyPr>
          <a:lstStyle/>
          <a:p>
            <a:r>
              <a:rPr lang="en-GB" sz="2800" dirty="0">
                <a:solidFill>
                  <a:schemeClr val="accent6"/>
                </a:solidFill>
              </a:rPr>
              <a:t>Iterator</a:t>
            </a:r>
            <a:endParaRPr lang="en-GB" dirty="0">
              <a:solidFill>
                <a:schemeClr val="accent6"/>
              </a:solidFill>
            </a:endParaRPr>
          </a:p>
        </p:txBody>
      </p:sp>
    </p:spTree>
    <p:extLst>
      <p:ext uri="{BB962C8B-B14F-4D97-AF65-F5344CB8AC3E}">
        <p14:creationId xmlns:p14="http://schemas.microsoft.com/office/powerpoint/2010/main" val="3147818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9F11E-17F0-5AD1-4421-D7A59A74D641}"/>
              </a:ext>
            </a:extLst>
          </p:cNvPr>
          <p:cNvSpPr>
            <a:spLocks noGrp="1"/>
          </p:cNvSpPr>
          <p:nvPr>
            <p:ph type="title"/>
          </p:nvPr>
        </p:nvSpPr>
        <p:spPr>
          <a:xfrm>
            <a:off x="1436479" y="606022"/>
            <a:ext cx="3156284" cy="2057043"/>
          </a:xfrm>
        </p:spPr>
        <p:txBody>
          <a:bodyPr vert="horz" lIns="91440" tIns="45720" rIns="91440" bIns="45720" rtlCol="0" anchor="ctr">
            <a:normAutofit/>
          </a:bodyPr>
          <a:lstStyle/>
          <a:p>
            <a:r>
              <a:rPr lang="en-US" sz="5200" kern="1200" dirty="0">
                <a:solidFill>
                  <a:schemeClr val="tx1"/>
                </a:solidFill>
                <a:latin typeface="+mj-lt"/>
                <a:ea typeface="+mj-ea"/>
                <a:cs typeface="+mj-cs"/>
              </a:rPr>
              <a:t>Creational </a:t>
            </a:r>
            <a:br>
              <a:rPr lang="en-US" sz="5200" kern="1200" dirty="0">
                <a:solidFill>
                  <a:schemeClr val="tx1"/>
                </a:solidFill>
                <a:latin typeface="+mj-lt"/>
                <a:ea typeface="+mj-ea"/>
                <a:cs typeface="+mj-cs"/>
              </a:rPr>
            </a:br>
            <a:r>
              <a:rPr lang="en-US" sz="5200" kern="1200" dirty="0">
                <a:solidFill>
                  <a:schemeClr val="tx1"/>
                </a:solidFill>
                <a:latin typeface="+mj-lt"/>
                <a:ea typeface="+mj-ea"/>
                <a:cs typeface="+mj-cs"/>
              </a:rPr>
              <a:t>Patterns </a:t>
            </a:r>
          </a:p>
        </p:txBody>
      </p:sp>
      <p:sp>
        <p:nvSpPr>
          <p:cNvPr id="3" name="Footer Placeholder 9">
            <a:extLst>
              <a:ext uri="{FF2B5EF4-FFF2-40B4-BE49-F238E27FC236}">
                <a16:creationId xmlns:a16="http://schemas.microsoft.com/office/drawing/2014/main" id="{E2F12FDF-B959-CA40-8B50-6C95241D0FC2}"/>
              </a:ext>
            </a:extLst>
          </p:cNvPr>
          <p:cNvSpPr>
            <a:spLocks noGrp="1"/>
          </p:cNvSpPr>
          <p:nvPr>
            <p:ph type="ftr" sz="quarter" idx="11"/>
          </p:nvPr>
        </p:nvSpPr>
        <p:spPr>
          <a:xfrm>
            <a:off x="-471245" y="14048"/>
            <a:ext cx="7315321" cy="962774"/>
          </a:xfrm>
        </p:spPr>
        <p:txBody>
          <a:bodyPr/>
          <a:lstStyle/>
          <a:p>
            <a:r>
              <a:rPr lang="en-GB" dirty="0"/>
              <a:t>Freeman, E., and Robson, E. (2020) </a:t>
            </a:r>
            <a:r>
              <a:rPr lang="en-GB" i="1" dirty="0"/>
              <a:t>Head First Design Patterns. </a:t>
            </a:r>
            <a:r>
              <a:rPr lang="en-GB" dirty="0"/>
              <a:t>2</a:t>
            </a:r>
            <a:r>
              <a:rPr lang="en-GB" baseline="30000" dirty="0"/>
              <a:t>nd</a:t>
            </a:r>
            <a:r>
              <a:rPr lang="en-GB" dirty="0"/>
              <a:t> ed. Sebastopol: O’Reilly Media, Inc. </a:t>
            </a:r>
          </a:p>
          <a:p>
            <a:r>
              <a:rPr lang="en-GB" dirty="0"/>
              <a:t>McDonald, J. S., (2007) </a:t>
            </a:r>
            <a:r>
              <a:rPr lang="en-GB" dirty="0">
                <a:hlinkClick r:id="rId3"/>
              </a:rPr>
              <a:t>http://www.mcdonaldland.info/</a:t>
            </a:r>
            <a:endParaRPr lang="en-GB" dirty="0"/>
          </a:p>
          <a:p>
            <a:endParaRPr lang="en-GB" dirty="0"/>
          </a:p>
          <a:p>
            <a:endParaRPr lang="en-GB" dirty="0"/>
          </a:p>
          <a:p>
            <a:endParaRPr lang="en-GB" dirty="0"/>
          </a:p>
        </p:txBody>
      </p:sp>
      <p:pic>
        <p:nvPicPr>
          <p:cNvPr id="5" name="Picture 2">
            <a:extLst>
              <a:ext uri="{FF2B5EF4-FFF2-40B4-BE49-F238E27FC236}">
                <a16:creationId xmlns:a16="http://schemas.microsoft.com/office/drawing/2014/main" id="{A89E65C2-7927-F845-930C-D5FC7B6AA6B1}"/>
              </a:ext>
            </a:extLst>
          </p:cNvPr>
          <p:cNvPicPr>
            <a:picLocks noChangeAspect="1" noChangeArrowheads="1"/>
          </p:cNvPicPr>
          <p:nvPr/>
        </p:nvPicPr>
        <p:blipFill>
          <a:blip r:embed="rId4">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auto">
          <a:xfrm>
            <a:off x="7718703" y="4286450"/>
            <a:ext cx="2683370" cy="236136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850FB72D-0546-67CF-565D-E8CF4CDA052F}"/>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bwMode="auto">
          <a:xfrm>
            <a:off x="5381893" y="221175"/>
            <a:ext cx="6330608" cy="373505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5B5549A-0E2C-491C-3F70-CF1631AE074D}"/>
              </a:ext>
            </a:extLst>
          </p:cNvPr>
          <p:cNvSpPr txBox="1"/>
          <p:nvPr/>
        </p:nvSpPr>
        <p:spPr>
          <a:xfrm>
            <a:off x="8149208" y="1372933"/>
            <a:ext cx="1225015" cy="523220"/>
          </a:xfrm>
          <a:prstGeom prst="rect">
            <a:avLst/>
          </a:prstGeom>
          <a:noFill/>
        </p:spPr>
        <p:txBody>
          <a:bodyPr wrap="none" rtlCol="0">
            <a:spAutoFit/>
          </a:bodyPr>
          <a:lstStyle/>
          <a:p>
            <a:r>
              <a:rPr lang="en-GB" sz="2800" dirty="0">
                <a:solidFill>
                  <a:schemeClr val="accent1"/>
                </a:solidFill>
              </a:rPr>
              <a:t>Builder</a:t>
            </a:r>
          </a:p>
        </p:txBody>
      </p:sp>
      <p:sp>
        <p:nvSpPr>
          <p:cNvPr id="9" name="TextBox 8">
            <a:extLst>
              <a:ext uri="{FF2B5EF4-FFF2-40B4-BE49-F238E27FC236}">
                <a16:creationId xmlns:a16="http://schemas.microsoft.com/office/drawing/2014/main" id="{3BB1CBFB-8B10-C316-B9E0-49A7B7AC24C9}"/>
              </a:ext>
            </a:extLst>
          </p:cNvPr>
          <p:cNvSpPr txBox="1"/>
          <p:nvPr/>
        </p:nvSpPr>
        <p:spPr>
          <a:xfrm>
            <a:off x="10402073" y="5145506"/>
            <a:ext cx="1541769" cy="523220"/>
          </a:xfrm>
          <a:prstGeom prst="rect">
            <a:avLst/>
          </a:prstGeom>
          <a:noFill/>
        </p:spPr>
        <p:txBody>
          <a:bodyPr wrap="none" rtlCol="0">
            <a:spAutoFit/>
          </a:bodyPr>
          <a:lstStyle/>
          <a:p>
            <a:r>
              <a:rPr lang="en-GB" sz="2800" dirty="0">
                <a:solidFill>
                  <a:schemeClr val="accent2"/>
                </a:solidFill>
              </a:rPr>
              <a:t>Singleton</a:t>
            </a:r>
          </a:p>
        </p:txBody>
      </p:sp>
      <p:pic>
        <p:nvPicPr>
          <p:cNvPr id="3074" name="Picture 2">
            <a:extLst>
              <a:ext uri="{FF2B5EF4-FFF2-40B4-BE49-F238E27FC236}">
                <a16:creationId xmlns:a16="http://schemas.microsoft.com/office/drawing/2014/main" id="{5C7F5DE2-F976-5C42-4033-3EA893EDFA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179" y="3096126"/>
            <a:ext cx="6983141" cy="3087858"/>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39AE04ED-6B3C-BC64-577B-1A2AF79A516E}"/>
              </a:ext>
            </a:extLst>
          </p:cNvPr>
          <p:cNvSpPr txBox="1"/>
          <p:nvPr/>
        </p:nvSpPr>
        <p:spPr>
          <a:xfrm>
            <a:off x="1436479" y="5701028"/>
            <a:ext cx="1258486" cy="523220"/>
          </a:xfrm>
          <a:prstGeom prst="rect">
            <a:avLst/>
          </a:prstGeom>
          <a:noFill/>
        </p:spPr>
        <p:txBody>
          <a:bodyPr wrap="none" rtlCol="0">
            <a:spAutoFit/>
          </a:bodyPr>
          <a:lstStyle/>
          <a:p>
            <a:r>
              <a:rPr lang="en-GB" sz="2800" dirty="0"/>
              <a:t>Factory</a:t>
            </a:r>
          </a:p>
        </p:txBody>
      </p:sp>
    </p:spTree>
    <p:extLst>
      <p:ext uri="{BB962C8B-B14F-4D97-AF65-F5344CB8AC3E}">
        <p14:creationId xmlns:p14="http://schemas.microsoft.com/office/powerpoint/2010/main" val="3113618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177B9-47AB-3581-2F63-A2F083B4BE79}"/>
              </a:ext>
            </a:extLst>
          </p:cNvPr>
          <p:cNvSpPr>
            <a:spLocks noGrp="1"/>
          </p:cNvSpPr>
          <p:nvPr>
            <p:ph type="title"/>
          </p:nvPr>
        </p:nvSpPr>
        <p:spPr/>
        <p:txBody>
          <a:bodyPr>
            <a:normAutofit/>
          </a:bodyPr>
          <a:lstStyle/>
          <a:p>
            <a:r>
              <a:rPr lang="en-GB" sz="5400" dirty="0"/>
              <a:t>Structural Patterns</a:t>
            </a:r>
          </a:p>
        </p:txBody>
      </p:sp>
      <p:pic>
        <p:nvPicPr>
          <p:cNvPr id="4" name="Picture 2">
            <a:extLst>
              <a:ext uri="{FF2B5EF4-FFF2-40B4-BE49-F238E27FC236}">
                <a16:creationId xmlns:a16="http://schemas.microsoft.com/office/drawing/2014/main" id="{76BA7623-EEEE-3552-A73B-15CA588F4F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1712" y="1787525"/>
            <a:ext cx="5108575" cy="32829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C469C34-89FC-7E44-5BF7-C9BAAD8B3471}"/>
              </a:ext>
            </a:extLst>
          </p:cNvPr>
          <p:cNvSpPr txBox="1"/>
          <p:nvPr/>
        </p:nvSpPr>
        <p:spPr>
          <a:xfrm>
            <a:off x="-1" y="6488668"/>
            <a:ext cx="6096000" cy="307777"/>
          </a:xfrm>
          <a:prstGeom prst="rect">
            <a:avLst/>
          </a:prstGeom>
          <a:noFill/>
        </p:spPr>
        <p:txBody>
          <a:bodyPr wrap="square">
            <a:spAutoFit/>
          </a:bodyPr>
          <a:lstStyle/>
          <a:p>
            <a:r>
              <a:rPr lang="en-GB" sz="1400" dirty="0">
                <a:solidFill>
                  <a:schemeClr val="bg2">
                    <a:lumMod val="50000"/>
                  </a:schemeClr>
                </a:solidFill>
              </a:rPr>
              <a:t>McDonald, J. S., (2007) </a:t>
            </a:r>
            <a:r>
              <a:rPr lang="en-GB" sz="1400" dirty="0">
                <a:solidFill>
                  <a:schemeClr val="bg2">
                    <a:lumMod val="50000"/>
                  </a:schemeClr>
                </a:solidFill>
                <a:hlinkClick r:id="rId4">
                  <a:extLst>
                    <a:ext uri="{A12FA001-AC4F-418D-AE19-62706E023703}">
                      <ahyp:hlinkClr xmlns:ahyp="http://schemas.microsoft.com/office/drawing/2018/hyperlinkcolor" val="tx"/>
                    </a:ext>
                  </a:extLst>
                </a:hlinkClick>
              </a:rPr>
              <a:t>http://www.mcdonaldland.info/</a:t>
            </a:r>
            <a:endParaRPr lang="en-GB" sz="1400" dirty="0">
              <a:solidFill>
                <a:schemeClr val="bg2">
                  <a:lumMod val="50000"/>
                </a:schemeClr>
              </a:solidFill>
            </a:endParaRPr>
          </a:p>
        </p:txBody>
      </p:sp>
    </p:spTree>
    <p:extLst>
      <p:ext uri="{BB962C8B-B14F-4D97-AF65-F5344CB8AC3E}">
        <p14:creationId xmlns:p14="http://schemas.microsoft.com/office/powerpoint/2010/main" val="2624942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2C4A0-2B12-E394-299B-B0A2046F43CD}"/>
              </a:ext>
            </a:extLst>
          </p:cNvPr>
          <p:cNvSpPr>
            <a:spLocks noGrp="1"/>
          </p:cNvSpPr>
          <p:nvPr>
            <p:ph type="title"/>
          </p:nvPr>
        </p:nvSpPr>
        <p:spPr/>
        <p:txBody>
          <a:bodyPr>
            <a:normAutofit/>
          </a:bodyPr>
          <a:lstStyle/>
          <a:p>
            <a:r>
              <a:rPr lang="en-GB" sz="5400" dirty="0"/>
              <a:t>Strengths of Design Patterns	</a:t>
            </a:r>
          </a:p>
        </p:txBody>
      </p:sp>
      <p:sp>
        <p:nvSpPr>
          <p:cNvPr id="3" name="Content Placeholder 2">
            <a:extLst>
              <a:ext uri="{FF2B5EF4-FFF2-40B4-BE49-F238E27FC236}">
                <a16:creationId xmlns:a16="http://schemas.microsoft.com/office/drawing/2014/main" id="{51048C86-62C9-0A67-E6D1-4914DF353678}"/>
              </a:ext>
            </a:extLst>
          </p:cNvPr>
          <p:cNvSpPr>
            <a:spLocks noGrp="1"/>
          </p:cNvSpPr>
          <p:nvPr>
            <p:ph idx="1"/>
          </p:nvPr>
        </p:nvSpPr>
        <p:spPr/>
        <p:txBody>
          <a:bodyPr>
            <a:normAutofit/>
          </a:bodyPr>
          <a:lstStyle/>
          <a:p>
            <a:r>
              <a:rPr lang="en-GB" sz="3600" dirty="0"/>
              <a:t>Reusability </a:t>
            </a:r>
          </a:p>
          <a:p>
            <a:endParaRPr lang="en-GB" sz="3600" dirty="0"/>
          </a:p>
          <a:p>
            <a:r>
              <a:rPr lang="en-GB" sz="3600" dirty="0"/>
              <a:t>Maintainability</a:t>
            </a:r>
          </a:p>
          <a:p>
            <a:endParaRPr lang="en-GB" sz="3600" dirty="0"/>
          </a:p>
          <a:p>
            <a:r>
              <a:rPr lang="en-GB" sz="3600" dirty="0"/>
              <a:t>Flexibility</a:t>
            </a:r>
          </a:p>
          <a:p>
            <a:endParaRPr lang="en-GB" sz="3600" dirty="0"/>
          </a:p>
          <a:p>
            <a:r>
              <a:rPr lang="en-GB" sz="3600" dirty="0"/>
              <a:t>Collaboration </a:t>
            </a:r>
          </a:p>
        </p:txBody>
      </p:sp>
    </p:spTree>
    <p:extLst>
      <p:ext uri="{BB962C8B-B14F-4D97-AF65-F5344CB8AC3E}">
        <p14:creationId xmlns:p14="http://schemas.microsoft.com/office/powerpoint/2010/main" val="273919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881A0-0FF7-8C69-F1F3-FB72583C5DCD}"/>
              </a:ext>
            </a:extLst>
          </p:cNvPr>
          <p:cNvSpPr>
            <a:spLocks noGrp="1"/>
          </p:cNvSpPr>
          <p:nvPr>
            <p:ph type="title"/>
          </p:nvPr>
        </p:nvSpPr>
        <p:spPr/>
        <p:txBody>
          <a:bodyPr>
            <a:normAutofit/>
          </a:bodyPr>
          <a:lstStyle/>
          <a:p>
            <a:r>
              <a:rPr lang="en-GB" sz="5400" dirty="0"/>
              <a:t>Limitations</a:t>
            </a:r>
          </a:p>
        </p:txBody>
      </p:sp>
      <p:sp>
        <p:nvSpPr>
          <p:cNvPr id="3" name="Content Placeholder 2">
            <a:extLst>
              <a:ext uri="{FF2B5EF4-FFF2-40B4-BE49-F238E27FC236}">
                <a16:creationId xmlns:a16="http://schemas.microsoft.com/office/drawing/2014/main" id="{9B042F23-ADD2-A656-CD53-1A3814219230}"/>
              </a:ext>
            </a:extLst>
          </p:cNvPr>
          <p:cNvSpPr>
            <a:spLocks noGrp="1"/>
          </p:cNvSpPr>
          <p:nvPr>
            <p:ph idx="1"/>
          </p:nvPr>
        </p:nvSpPr>
        <p:spPr/>
        <p:txBody>
          <a:bodyPr>
            <a:normAutofit/>
          </a:bodyPr>
          <a:lstStyle/>
          <a:p>
            <a:r>
              <a:rPr lang="en-GB" sz="3600" dirty="0"/>
              <a:t>Learning Curve </a:t>
            </a:r>
          </a:p>
          <a:p>
            <a:endParaRPr lang="en-GB" sz="3600" dirty="0"/>
          </a:p>
          <a:p>
            <a:r>
              <a:rPr lang="en-GB" sz="3600" dirty="0"/>
              <a:t>Pattern Happy (</a:t>
            </a:r>
            <a:r>
              <a:rPr lang="en-GB" sz="3600" dirty="0" err="1"/>
              <a:t>Kerievsky</a:t>
            </a:r>
            <a:r>
              <a:rPr lang="en-GB" sz="3600" dirty="0"/>
              <a:t>, J., 2004) </a:t>
            </a:r>
          </a:p>
          <a:p>
            <a:endParaRPr lang="en-GB" sz="3600" dirty="0"/>
          </a:p>
          <a:p>
            <a:r>
              <a:rPr lang="en-GB" sz="3600" dirty="0"/>
              <a:t>Context Dependency </a:t>
            </a:r>
          </a:p>
        </p:txBody>
      </p:sp>
    </p:spTree>
    <p:extLst>
      <p:ext uri="{BB962C8B-B14F-4D97-AF65-F5344CB8AC3E}">
        <p14:creationId xmlns:p14="http://schemas.microsoft.com/office/powerpoint/2010/main" val="2964033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DFA57-C293-45A4-A22D-521BCF9A08FB}"/>
              </a:ext>
            </a:extLst>
          </p:cNvPr>
          <p:cNvSpPr>
            <a:spLocks noGrp="1"/>
          </p:cNvSpPr>
          <p:nvPr>
            <p:ph type="title"/>
          </p:nvPr>
        </p:nvSpPr>
        <p:spPr>
          <a:xfrm>
            <a:off x="838200" y="365125"/>
            <a:ext cx="10515600" cy="5088618"/>
          </a:xfrm>
        </p:spPr>
        <p:txBody>
          <a:bodyPr>
            <a:normAutofit/>
          </a:bodyPr>
          <a:lstStyle/>
          <a:p>
            <a:pPr algn="ctr"/>
            <a:r>
              <a:rPr lang="en-GB" sz="5400" dirty="0"/>
              <a:t>Potential Patterns, Justified and Implemented</a:t>
            </a:r>
          </a:p>
        </p:txBody>
      </p:sp>
    </p:spTree>
    <p:extLst>
      <p:ext uri="{BB962C8B-B14F-4D97-AF65-F5344CB8AC3E}">
        <p14:creationId xmlns:p14="http://schemas.microsoft.com/office/powerpoint/2010/main" val="1303242146"/>
      </p:ext>
    </p:extLst>
  </p:cSld>
  <p:clrMapOvr>
    <a:masterClrMapping/>
  </p:clrMapOvr>
  <mc:AlternateContent xmlns:mc="http://schemas.openxmlformats.org/markup-compatibility/2006">
    <mc:Choice xmlns:p14="http://schemas.microsoft.com/office/powerpoint/2010/main" Requires="p14">
      <p:transition spd="slow" p14:dur="2000" advTm="5331"/>
    </mc:Choice>
    <mc:Fallback>
      <p:transition spd="slow" advTm="533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CCA48-0092-6642-DD93-04D8B4BB413E}"/>
              </a:ext>
            </a:extLst>
          </p:cNvPr>
          <p:cNvSpPr>
            <a:spLocks noGrp="1"/>
          </p:cNvSpPr>
          <p:nvPr>
            <p:ph type="title"/>
          </p:nvPr>
        </p:nvSpPr>
        <p:spPr/>
        <p:txBody>
          <a:bodyPr/>
          <a:lstStyle/>
          <a:p>
            <a:r>
              <a:rPr lang="en-GB" dirty="0"/>
              <a:t>Iterator</a:t>
            </a:r>
          </a:p>
        </p:txBody>
      </p:sp>
      <p:pic>
        <p:nvPicPr>
          <p:cNvPr id="1026" name="Picture 2">
            <a:extLst>
              <a:ext uri="{FF2B5EF4-FFF2-40B4-BE49-F238E27FC236}">
                <a16:creationId xmlns:a16="http://schemas.microsoft.com/office/drawing/2014/main" id="{CCA1C810-0464-32A7-B7D1-3930E39AF12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27099" y="1253331"/>
            <a:ext cx="6291136" cy="43513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E01EC50-8265-C75F-EA85-4E1D068FCCC0}"/>
              </a:ext>
            </a:extLst>
          </p:cNvPr>
          <p:cNvSpPr txBox="1"/>
          <p:nvPr/>
        </p:nvSpPr>
        <p:spPr>
          <a:xfrm>
            <a:off x="9132599" y="365125"/>
            <a:ext cx="2221201" cy="2031325"/>
          </a:xfrm>
          <a:prstGeom prst="rect">
            <a:avLst/>
          </a:prstGeom>
          <a:noFill/>
        </p:spPr>
        <p:txBody>
          <a:bodyPr wrap="square" rtlCol="0">
            <a:spAutoFit/>
          </a:bodyPr>
          <a:lstStyle/>
          <a:p>
            <a:r>
              <a:rPr lang="en-GB" dirty="0"/>
              <a:t>Iterator interface provides a interface that all iterators must implement which includes methods for traversing over the collection </a:t>
            </a:r>
          </a:p>
        </p:txBody>
      </p:sp>
      <p:sp>
        <p:nvSpPr>
          <p:cNvPr id="4" name="TextBox 3">
            <a:extLst>
              <a:ext uri="{FF2B5EF4-FFF2-40B4-BE49-F238E27FC236}">
                <a16:creationId xmlns:a16="http://schemas.microsoft.com/office/drawing/2014/main" id="{D62E14F2-8BD2-766E-C8FB-48DD6E2F5538}"/>
              </a:ext>
            </a:extLst>
          </p:cNvPr>
          <p:cNvSpPr txBox="1"/>
          <p:nvPr/>
        </p:nvSpPr>
        <p:spPr>
          <a:xfrm>
            <a:off x="9132600" y="4681339"/>
            <a:ext cx="2852572" cy="1200329"/>
          </a:xfrm>
          <a:prstGeom prst="rect">
            <a:avLst/>
          </a:prstGeom>
          <a:noFill/>
        </p:spPr>
        <p:txBody>
          <a:bodyPr wrap="square" rtlCol="0">
            <a:spAutoFit/>
          </a:bodyPr>
          <a:lstStyle/>
          <a:p>
            <a:r>
              <a:rPr lang="en-GB" dirty="0"/>
              <a:t>The </a:t>
            </a:r>
            <a:r>
              <a:rPr lang="en-GB" i="1" dirty="0"/>
              <a:t>Concreate </a:t>
            </a:r>
            <a:r>
              <a:rPr lang="en-GB" dirty="0"/>
              <a:t>iterator has responsibility of managing the current iteration position </a:t>
            </a:r>
            <a:endParaRPr lang="en-GB" i="1" dirty="0"/>
          </a:p>
        </p:txBody>
      </p:sp>
      <p:sp>
        <p:nvSpPr>
          <p:cNvPr id="5" name="TextBox 4">
            <a:extLst>
              <a:ext uri="{FF2B5EF4-FFF2-40B4-BE49-F238E27FC236}">
                <a16:creationId xmlns:a16="http://schemas.microsoft.com/office/drawing/2014/main" id="{7C8F5345-C19A-0E26-867F-A824F117E0C7}"/>
              </a:ext>
            </a:extLst>
          </p:cNvPr>
          <p:cNvSpPr txBox="1"/>
          <p:nvPr/>
        </p:nvSpPr>
        <p:spPr>
          <a:xfrm>
            <a:off x="555171" y="1807029"/>
            <a:ext cx="1763486" cy="1754326"/>
          </a:xfrm>
          <a:prstGeom prst="rect">
            <a:avLst/>
          </a:prstGeom>
          <a:noFill/>
        </p:spPr>
        <p:txBody>
          <a:bodyPr wrap="square" rtlCol="0">
            <a:spAutoFit/>
          </a:bodyPr>
          <a:lstStyle/>
          <a:p>
            <a:r>
              <a:rPr lang="en-GB" dirty="0"/>
              <a:t>The Container interface decouples the client from the implementation of the aggregate</a:t>
            </a:r>
          </a:p>
        </p:txBody>
      </p:sp>
      <p:sp>
        <p:nvSpPr>
          <p:cNvPr id="6" name="TextBox 5">
            <a:extLst>
              <a:ext uri="{FF2B5EF4-FFF2-40B4-BE49-F238E27FC236}">
                <a16:creationId xmlns:a16="http://schemas.microsoft.com/office/drawing/2014/main" id="{066F7B44-764F-4D40-1935-75ACC05FB382}"/>
              </a:ext>
            </a:extLst>
          </p:cNvPr>
          <p:cNvSpPr txBox="1"/>
          <p:nvPr/>
        </p:nvSpPr>
        <p:spPr>
          <a:xfrm>
            <a:off x="555171" y="5420003"/>
            <a:ext cx="4749106" cy="923330"/>
          </a:xfrm>
          <a:prstGeom prst="rect">
            <a:avLst/>
          </a:prstGeom>
          <a:noFill/>
        </p:spPr>
        <p:txBody>
          <a:bodyPr wrap="square" rtlCol="0">
            <a:spAutoFit/>
          </a:bodyPr>
          <a:lstStyle/>
          <a:p>
            <a:r>
              <a:rPr lang="en-GB" dirty="0"/>
              <a:t>The </a:t>
            </a:r>
            <a:r>
              <a:rPr lang="en-GB" i="1" dirty="0"/>
              <a:t>concreate </a:t>
            </a:r>
            <a:r>
              <a:rPr lang="en-GB" dirty="0"/>
              <a:t>collection contains the collection of objects and implements the methods that return the iterator</a:t>
            </a:r>
          </a:p>
        </p:txBody>
      </p:sp>
    </p:spTree>
    <p:extLst>
      <p:ext uri="{BB962C8B-B14F-4D97-AF65-F5344CB8AC3E}">
        <p14:creationId xmlns:p14="http://schemas.microsoft.com/office/powerpoint/2010/main" val="4000953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Object 20">
            <a:hlinkClick r:id="" action="ppaction://ole?verb=0"/>
            <a:extLst>
              <a:ext uri="{FF2B5EF4-FFF2-40B4-BE49-F238E27FC236}">
                <a16:creationId xmlns:a16="http://schemas.microsoft.com/office/drawing/2014/main" id="{AFE51C04-A7F1-ECD3-0C87-8DB412ABB02C}"/>
              </a:ext>
            </a:extLst>
          </p:cNvPr>
          <p:cNvGraphicFramePr>
            <a:graphicFrameLocks noChangeAspect="1"/>
          </p:cNvGraphicFramePr>
          <p:nvPr>
            <p:extLst>
              <p:ext uri="{D42A27DB-BD31-4B8C-83A1-F6EECF244321}">
                <p14:modId xmlns:p14="http://schemas.microsoft.com/office/powerpoint/2010/main" val="3989455001"/>
              </p:ext>
            </p:extLst>
          </p:nvPr>
        </p:nvGraphicFramePr>
        <p:xfrm>
          <a:off x="1343891" y="700270"/>
          <a:ext cx="9504218" cy="5346123"/>
        </p:xfrm>
        <a:graphic>
          <a:graphicData uri="http://schemas.openxmlformats.org/presentationml/2006/ole">
            <mc:AlternateContent xmlns:mc="http://schemas.openxmlformats.org/markup-compatibility/2006">
              <mc:Choice xmlns:v="urn:schemas-microsoft-com:vml" Requires="v">
                <p:oleObj name="Presentation" r:id="rId2" imgW="6095975" imgH="3429123" progId="PowerPoint.Show.12">
                  <p:embed/>
                </p:oleObj>
              </mc:Choice>
              <mc:Fallback>
                <p:oleObj name="Presentation" r:id="rId2" imgW="6095975" imgH="3429123" progId="PowerPoint.Show.12">
                  <p:embed/>
                  <p:pic>
                    <p:nvPicPr>
                      <p:cNvPr id="0" name=""/>
                      <p:cNvPicPr/>
                      <p:nvPr/>
                    </p:nvPicPr>
                    <p:blipFill>
                      <a:blip r:embed="rId3"/>
                      <a:stretch>
                        <a:fillRect/>
                      </a:stretch>
                    </p:blipFill>
                    <p:spPr>
                      <a:xfrm>
                        <a:off x="1343891" y="700270"/>
                        <a:ext cx="9504218" cy="5346123"/>
                      </a:xfrm>
                      <a:prstGeom prst="rect">
                        <a:avLst/>
                      </a:prstGeom>
                    </p:spPr>
                  </p:pic>
                </p:oleObj>
              </mc:Fallback>
            </mc:AlternateContent>
          </a:graphicData>
        </a:graphic>
      </p:graphicFrame>
    </p:spTree>
    <p:extLst>
      <p:ext uri="{BB962C8B-B14F-4D97-AF65-F5344CB8AC3E}">
        <p14:creationId xmlns:p14="http://schemas.microsoft.com/office/powerpoint/2010/main" val="238602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1A203-D139-9452-15B6-798DF5EF5A51}"/>
              </a:ext>
            </a:extLst>
          </p:cNvPr>
          <p:cNvSpPr>
            <a:spLocks noGrp="1"/>
          </p:cNvSpPr>
          <p:nvPr>
            <p:ph type="title"/>
          </p:nvPr>
        </p:nvSpPr>
        <p:spPr/>
        <p:txBody>
          <a:bodyPr/>
          <a:lstStyle/>
          <a:p>
            <a:r>
              <a:rPr lang="en-GB" dirty="0"/>
              <a:t>Strategy</a:t>
            </a:r>
          </a:p>
        </p:txBody>
      </p:sp>
      <p:pic>
        <p:nvPicPr>
          <p:cNvPr id="7174" name="Picture 6">
            <a:extLst>
              <a:ext uri="{FF2B5EF4-FFF2-40B4-BE49-F238E27FC236}">
                <a16:creationId xmlns:a16="http://schemas.microsoft.com/office/drawing/2014/main" id="{B8BD7DF8-A7F1-EFE0-C6DB-064D4FB16A0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82412" y="2072265"/>
            <a:ext cx="6702836" cy="43513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9BE3089-9B0C-F3E9-9E4E-C2DF640C0947}"/>
              </a:ext>
            </a:extLst>
          </p:cNvPr>
          <p:cNvSpPr txBox="1"/>
          <p:nvPr/>
        </p:nvSpPr>
        <p:spPr>
          <a:xfrm>
            <a:off x="7759931" y="1034029"/>
            <a:ext cx="3593869" cy="369332"/>
          </a:xfrm>
          <a:prstGeom prst="rect">
            <a:avLst/>
          </a:prstGeom>
          <a:noFill/>
        </p:spPr>
        <p:txBody>
          <a:bodyPr wrap="none" rtlCol="0">
            <a:spAutoFit/>
          </a:bodyPr>
          <a:lstStyle/>
          <a:p>
            <a:r>
              <a:rPr lang="en-GB" dirty="0"/>
              <a:t>Context refers to our domain classes</a:t>
            </a:r>
          </a:p>
        </p:txBody>
      </p:sp>
      <p:sp>
        <p:nvSpPr>
          <p:cNvPr id="5" name="TextBox 4">
            <a:extLst>
              <a:ext uri="{FF2B5EF4-FFF2-40B4-BE49-F238E27FC236}">
                <a16:creationId xmlns:a16="http://schemas.microsoft.com/office/drawing/2014/main" id="{A1D296D9-122A-0947-E01A-F4EE844CBC03}"/>
              </a:ext>
            </a:extLst>
          </p:cNvPr>
          <p:cNvSpPr txBox="1"/>
          <p:nvPr/>
        </p:nvSpPr>
        <p:spPr>
          <a:xfrm>
            <a:off x="3820886" y="1403361"/>
            <a:ext cx="3496535" cy="369332"/>
          </a:xfrm>
          <a:prstGeom prst="rect">
            <a:avLst/>
          </a:prstGeom>
          <a:noFill/>
        </p:spPr>
        <p:txBody>
          <a:bodyPr wrap="none" rtlCol="0">
            <a:spAutoFit/>
          </a:bodyPr>
          <a:lstStyle/>
          <a:p>
            <a:r>
              <a:rPr lang="en-GB" b="1" dirty="0"/>
              <a:t>Encapsulated Validation Behaviour</a:t>
            </a:r>
          </a:p>
        </p:txBody>
      </p:sp>
      <p:sp>
        <p:nvSpPr>
          <p:cNvPr id="6" name="TextBox 5">
            <a:extLst>
              <a:ext uri="{FF2B5EF4-FFF2-40B4-BE49-F238E27FC236}">
                <a16:creationId xmlns:a16="http://schemas.microsoft.com/office/drawing/2014/main" id="{F2CF1FB3-B9ED-1A93-6C02-FDF13B981DE1}"/>
              </a:ext>
            </a:extLst>
          </p:cNvPr>
          <p:cNvSpPr txBox="1"/>
          <p:nvPr/>
        </p:nvSpPr>
        <p:spPr>
          <a:xfrm>
            <a:off x="1763485" y="2228671"/>
            <a:ext cx="1959429" cy="1200329"/>
          </a:xfrm>
          <a:prstGeom prst="rect">
            <a:avLst/>
          </a:prstGeom>
          <a:noFill/>
        </p:spPr>
        <p:txBody>
          <a:bodyPr wrap="square" rtlCol="0">
            <a:spAutoFit/>
          </a:bodyPr>
          <a:lstStyle/>
          <a:p>
            <a:r>
              <a:rPr lang="en-GB" dirty="0"/>
              <a:t>Interface which includes the validate method to implement</a:t>
            </a:r>
          </a:p>
        </p:txBody>
      </p:sp>
      <p:sp>
        <p:nvSpPr>
          <p:cNvPr id="7" name="TextBox 6">
            <a:extLst>
              <a:ext uri="{FF2B5EF4-FFF2-40B4-BE49-F238E27FC236}">
                <a16:creationId xmlns:a16="http://schemas.microsoft.com/office/drawing/2014/main" id="{4AC675AE-04B2-35C4-10D4-590B6955062A}"/>
              </a:ext>
            </a:extLst>
          </p:cNvPr>
          <p:cNvSpPr txBox="1"/>
          <p:nvPr/>
        </p:nvSpPr>
        <p:spPr>
          <a:xfrm>
            <a:off x="9023730" y="4946808"/>
            <a:ext cx="3168270" cy="1754326"/>
          </a:xfrm>
          <a:prstGeom prst="rect">
            <a:avLst/>
          </a:prstGeom>
          <a:noFill/>
        </p:spPr>
        <p:txBody>
          <a:bodyPr wrap="square" rtlCol="0">
            <a:spAutoFit/>
          </a:bodyPr>
          <a:lstStyle/>
          <a:p>
            <a:r>
              <a:rPr lang="en-GB" dirty="0"/>
              <a:t>Implementation of validate. Additional validate behaviours can be added without modify the validation interface and by removing the existing validate() from included domains</a:t>
            </a:r>
          </a:p>
        </p:txBody>
      </p:sp>
      <p:sp>
        <p:nvSpPr>
          <p:cNvPr id="8" name="TextBox 7">
            <a:extLst>
              <a:ext uri="{FF2B5EF4-FFF2-40B4-BE49-F238E27FC236}">
                <a16:creationId xmlns:a16="http://schemas.microsoft.com/office/drawing/2014/main" id="{EF94B339-BC8B-6188-6042-AF4F60076F51}"/>
              </a:ext>
            </a:extLst>
          </p:cNvPr>
          <p:cNvSpPr txBox="1"/>
          <p:nvPr/>
        </p:nvSpPr>
        <p:spPr>
          <a:xfrm>
            <a:off x="6136226" y="3412027"/>
            <a:ext cx="4471639" cy="923330"/>
          </a:xfrm>
          <a:prstGeom prst="rect">
            <a:avLst/>
          </a:prstGeom>
          <a:noFill/>
        </p:spPr>
        <p:txBody>
          <a:bodyPr wrap="square" rtlCol="0">
            <a:spAutoFit/>
          </a:bodyPr>
          <a:lstStyle/>
          <a:p>
            <a:r>
              <a:rPr lang="en-GB" dirty="0"/>
              <a:t>The </a:t>
            </a:r>
            <a:r>
              <a:rPr lang="en-GB" dirty="0" err="1"/>
              <a:t>ValidateStrategy</a:t>
            </a:r>
            <a:r>
              <a:rPr lang="en-GB" dirty="0"/>
              <a:t> interface can be reused across multiple classes without requiring inheritance</a:t>
            </a:r>
          </a:p>
        </p:txBody>
      </p:sp>
    </p:spTree>
    <p:extLst>
      <p:ext uri="{BB962C8B-B14F-4D97-AF65-F5344CB8AC3E}">
        <p14:creationId xmlns:p14="http://schemas.microsoft.com/office/powerpoint/2010/main" val="1085203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a:hlinkClick r:id="" action="ppaction://ole?verb=0"/>
            <a:extLst>
              <a:ext uri="{FF2B5EF4-FFF2-40B4-BE49-F238E27FC236}">
                <a16:creationId xmlns:a16="http://schemas.microsoft.com/office/drawing/2014/main" id="{D15AA261-DF45-D0A2-0AD6-604214FFBD86}"/>
              </a:ext>
            </a:extLst>
          </p:cNvPr>
          <p:cNvGraphicFramePr>
            <a:graphicFrameLocks noChangeAspect="1"/>
          </p:cNvGraphicFramePr>
          <p:nvPr>
            <p:extLst>
              <p:ext uri="{D42A27DB-BD31-4B8C-83A1-F6EECF244321}">
                <p14:modId xmlns:p14="http://schemas.microsoft.com/office/powerpoint/2010/main" val="2904063366"/>
              </p:ext>
            </p:extLst>
          </p:nvPr>
        </p:nvGraphicFramePr>
        <p:xfrm>
          <a:off x="1627279" y="881338"/>
          <a:ext cx="9058354" cy="5095324"/>
        </p:xfrm>
        <a:graphic>
          <a:graphicData uri="http://schemas.openxmlformats.org/presentationml/2006/ole">
            <mc:AlternateContent xmlns:mc="http://schemas.openxmlformats.org/markup-compatibility/2006">
              <mc:Choice xmlns:v="urn:schemas-microsoft-com:vml" Requires="v">
                <p:oleObj name="Presentation" r:id="rId2" imgW="6135938" imgH="3452164" progId="PowerPoint.Show.12">
                  <p:embed/>
                </p:oleObj>
              </mc:Choice>
              <mc:Fallback>
                <p:oleObj name="Presentation" r:id="rId2" imgW="6135938" imgH="3452164" progId="PowerPoint.Show.12">
                  <p:embed/>
                  <p:pic>
                    <p:nvPicPr>
                      <p:cNvPr id="0" name=""/>
                      <p:cNvPicPr/>
                      <p:nvPr/>
                    </p:nvPicPr>
                    <p:blipFill>
                      <a:blip r:embed="rId3"/>
                      <a:stretch>
                        <a:fillRect/>
                      </a:stretch>
                    </p:blipFill>
                    <p:spPr>
                      <a:xfrm>
                        <a:off x="1627279" y="881338"/>
                        <a:ext cx="9058354" cy="5095324"/>
                      </a:xfrm>
                      <a:prstGeom prst="rect">
                        <a:avLst/>
                      </a:prstGeom>
                    </p:spPr>
                  </p:pic>
                </p:oleObj>
              </mc:Fallback>
            </mc:AlternateContent>
          </a:graphicData>
        </a:graphic>
      </p:graphicFrame>
    </p:spTree>
    <p:extLst>
      <p:ext uri="{BB962C8B-B14F-4D97-AF65-F5344CB8AC3E}">
        <p14:creationId xmlns:p14="http://schemas.microsoft.com/office/powerpoint/2010/main" val="1998392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661E6-C731-DEEF-07CA-6AF3544C4FDA}"/>
              </a:ext>
            </a:extLst>
          </p:cNvPr>
          <p:cNvSpPr>
            <a:spLocks noGrp="1"/>
          </p:cNvSpPr>
          <p:nvPr>
            <p:ph type="title"/>
          </p:nvPr>
        </p:nvSpPr>
        <p:spPr/>
        <p:txBody>
          <a:bodyPr/>
          <a:lstStyle/>
          <a:p>
            <a:r>
              <a:rPr lang="en-GB" dirty="0"/>
              <a:t>Factory + Command</a:t>
            </a:r>
          </a:p>
        </p:txBody>
      </p:sp>
      <p:pic>
        <p:nvPicPr>
          <p:cNvPr id="6146" name="Picture 2">
            <a:extLst>
              <a:ext uri="{FF2B5EF4-FFF2-40B4-BE49-F238E27FC236}">
                <a16:creationId xmlns:a16="http://schemas.microsoft.com/office/drawing/2014/main" id="{4B61B507-841C-CE97-9954-F6ECA745138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1757373" y="1825625"/>
            <a:ext cx="8677254" cy="43513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680BBEC-20C2-02C3-3BCB-1C3DA5DC4825}"/>
              </a:ext>
            </a:extLst>
          </p:cNvPr>
          <p:cNvSpPr txBox="1"/>
          <p:nvPr/>
        </p:nvSpPr>
        <p:spPr>
          <a:xfrm>
            <a:off x="133815" y="1483610"/>
            <a:ext cx="7704610" cy="369332"/>
          </a:xfrm>
          <a:prstGeom prst="rect">
            <a:avLst/>
          </a:prstGeom>
          <a:noFill/>
        </p:spPr>
        <p:txBody>
          <a:bodyPr wrap="none" rtlCol="0">
            <a:spAutoFit/>
          </a:bodyPr>
          <a:lstStyle/>
          <a:p>
            <a:r>
              <a:rPr lang="en-GB" dirty="0"/>
              <a:t>The factory client. Controllers call on the skill factory to return our skill use cases</a:t>
            </a:r>
          </a:p>
        </p:txBody>
      </p:sp>
      <p:sp>
        <p:nvSpPr>
          <p:cNvPr id="4" name="TextBox 3">
            <a:extLst>
              <a:ext uri="{FF2B5EF4-FFF2-40B4-BE49-F238E27FC236}">
                <a16:creationId xmlns:a16="http://schemas.microsoft.com/office/drawing/2014/main" id="{8C3542C1-7883-8E58-8A33-1167245C10A4}"/>
              </a:ext>
            </a:extLst>
          </p:cNvPr>
          <p:cNvSpPr txBox="1"/>
          <p:nvPr/>
        </p:nvSpPr>
        <p:spPr>
          <a:xfrm>
            <a:off x="401445" y="5051502"/>
            <a:ext cx="4226312" cy="1200329"/>
          </a:xfrm>
          <a:prstGeom prst="rect">
            <a:avLst/>
          </a:prstGeom>
          <a:noFill/>
        </p:spPr>
        <p:txBody>
          <a:bodyPr wrap="square" rtlCol="0">
            <a:spAutoFit/>
          </a:bodyPr>
          <a:lstStyle/>
          <a:p>
            <a:r>
              <a:rPr lang="en-GB" dirty="0"/>
              <a:t>In the skill factory we integrate the command pattern to allow us to identify which of the Use Cases we want our factory to return</a:t>
            </a:r>
          </a:p>
        </p:txBody>
      </p:sp>
      <p:sp>
        <p:nvSpPr>
          <p:cNvPr id="5" name="TextBox 4">
            <a:extLst>
              <a:ext uri="{FF2B5EF4-FFF2-40B4-BE49-F238E27FC236}">
                <a16:creationId xmlns:a16="http://schemas.microsoft.com/office/drawing/2014/main" id="{93DB3C0E-6960-39DD-087B-BBEE6EFD7247}"/>
              </a:ext>
            </a:extLst>
          </p:cNvPr>
          <p:cNvSpPr txBox="1"/>
          <p:nvPr/>
        </p:nvSpPr>
        <p:spPr>
          <a:xfrm>
            <a:off x="9157812" y="733740"/>
            <a:ext cx="2553629" cy="1200329"/>
          </a:xfrm>
          <a:prstGeom prst="rect">
            <a:avLst/>
          </a:prstGeom>
          <a:noFill/>
        </p:spPr>
        <p:txBody>
          <a:bodyPr wrap="square" rtlCol="0">
            <a:spAutoFit/>
          </a:bodyPr>
          <a:lstStyle/>
          <a:p>
            <a:r>
              <a:rPr lang="en-GB" dirty="0" err="1"/>
              <a:t>UseCaseCommand</a:t>
            </a:r>
            <a:r>
              <a:rPr lang="en-GB" dirty="0"/>
              <a:t> provides a common interface to execute our </a:t>
            </a:r>
            <a:r>
              <a:rPr lang="en-GB" dirty="0" err="1"/>
              <a:t>useCases</a:t>
            </a:r>
            <a:endParaRPr lang="en-GB" dirty="0"/>
          </a:p>
        </p:txBody>
      </p:sp>
      <p:sp>
        <p:nvSpPr>
          <p:cNvPr id="7" name="TextBox 6">
            <a:extLst>
              <a:ext uri="{FF2B5EF4-FFF2-40B4-BE49-F238E27FC236}">
                <a16:creationId xmlns:a16="http://schemas.microsoft.com/office/drawing/2014/main" id="{F8F76161-E09A-A92D-BFEA-D153B8425255}"/>
              </a:ext>
            </a:extLst>
          </p:cNvPr>
          <p:cNvSpPr txBox="1"/>
          <p:nvPr/>
        </p:nvSpPr>
        <p:spPr>
          <a:xfrm>
            <a:off x="5051503" y="5651666"/>
            <a:ext cx="5260460" cy="646331"/>
          </a:xfrm>
          <a:prstGeom prst="rect">
            <a:avLst/>
          </a:prstGeom>
          <a:noFill/>
        </p:spPr>
        <p:txBody>
          <a:bodyPr wrap="square" rtlCol="0">
            <a:spAutoFit/>
          </a:bodyPr>
          <a:lstStyle/>
          <a:p>
            <a:r>
              <a:rPr lang="en-GB" dirty="0" err="1"/>
              <a:t>UseCases</a:t>
            </a:r>
            <a:r>
              <a:rPr lang="en-GB" dirty="0"/>
              <a:t> are our </a:t>
            </a:r>
            <a:r>
              <a:rPr lang="en-GB" i="1" dirty="0"/>
              <a:t>concrete </a:t>
            </a:r>
            <a:r>
              <a:rPr lang="en-GB" dirty="0"/>
              <a:t>products. They all implement the execute() and add() from the interface</a:t>
            </a:r>
          </a:p>
        </p:txBody>
      </p:sp>
      <p:sp>
        <p:nvSpPr>
          <p:cNvPr id="8" name="TextBox 7">
            <a:extLst>
              <a:ext uri="{FF2B5EF4-FFF2-40B4-BE49-F238E27FC236}">
                <a16:creationId xmlns:a16="http://schemas.microsoft.com/office/drawing/2014/main" id="{039ED968-16AE-7ADD-F1BC-636FFB08160F}"/>
              </a:ext>
            </a:extLst>
          </p:cNvPr>
          <p:cNvSpPr txBox="1"/>
          <p:nvPr/>
        </p:nvSpPr>
        <p:spPr>
          <a:xfrm>
            <a:off x="10641980" y="3897340"/>
            <a:ext cx="1497980" cy="1754326"/>
          </a:xfrm>
          <a:prstGeom prst="rect">
            <a:avLst/>
          </a:prstGeom>
          <a:noFill/>
        </p:spPr>
        <p:txBody>
          <a:bodyPr wrap="square" rtlCol="0">
            <a:spAutoFit/>
          </a:bodyPr>
          <a:lstStyle/>
          <a:p>
            <a:r>
              <a:rPr lang="en-GB" dirty="0"/>
              <a:t>Our use cases are created by the factory and returned to our controllers</a:t>
            </a:r>
          </a:p>
        </p:txBody>
      </p:sp>
    </p:spTree>
    <p:extLst>
      <p:ext uri="{BB962C8B-B14F-4D97-AF65-F5344CB8AC3E}">
        <p14:creationId xmlns:p14="http://schemas.microsoft.com/office/powerpoint/2010/main" val="1138782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21">
            <a:hlinkClick r:id="" action="ppaction://ole?verb=0"/>
            <a:extLst>
              <a:ext uri="{FF2B5EF4-FFF2-40B4-BE49-F238E27FC236}">
                <a16:creationId xmlns:a16="http://schemas.microsoft.com/office/drawing/2014/main" id="{17FA7713-A231-6512-937E-1A595EBB9320}"/>
              </a:ext>
            </a:extLst>
          </p:cNvPr>
          <p:cNvGraphicFramePr>
            <a:graphicFrameLocks noChangeAspect="1"/>
          </p:cNvGraphicFramePr>
          <p:nvPr>
            <p:extLst>
              <p:ext uri="{D42A27DB-BD31-4B8C-83A1-F6EECF244321}">
                <p14:modId xmlns:p14="http://schemas.microsoft.com/office/powerpoint/2010/main" val="1071680038"/>
              </p:ext>
            </p:extLst>
          </p:nvPr>
        </p:nvGraphicFramePr>
        <p:xfrm>
          <a:off x="1848381" y="1039714"/>
          <a:ext cx="8495237" cy="4778571"/>
        </p:xfrm>
        <a:graphic>
          <a:graphicData uri="http://schemas.openxmlformats.org/presentationml/2006/ole">
            <mc:AlternateContent xmlns:mc="http://schemas.openxmlformats.org/markup-compatibility/2006">
              <mc:Choice xmlns:v="urn:schemas-microsoft-com:vml" Requires="v">
                <p:oleObj name="Presentation" r:id="rId2" imgW="6095975" imgH="3429123" progId="PowerPoint.Show.12">
                  <p:embed/>
                </p:oleObj>
              </mc:Choice>
              <mc:Fallback>
                <p:oleObj name="Presentation" r:id="rId2" imgW="6095975" imgH="3429123" progId="PowerPoint.Show.12">
                  <p:embed/>
                  <p:pic>
                    <p:nvPicPr>
                      <p:cNvPr id="0" name=""/>
                      <p:cNvPicPr/>
                      <p:nvPr/>
                    </p:nvPicPr>
                    <p:blipFill>
                      <a:blip r:embed="rId3"/>
                      <a:stretch>
                        <a:fillRect/>
                      </a:stretch>
                    </p:blipFill>
                    <p:spPr>
                      <a:xfrm>
                        <a:off x="1848381" y="1039714"/>
                        <a:ext cx="8495237" cy="4778571"/>
                      </a:xfrm>
                      <a:prstGeom prst="rect">
                        <a:avLst/>
                      </a:prstGeom>
                    </p:spPr>
                  </p:pic>
                </p:oleObj>
              </mc:Fallback>
            </mc:AlternateContent>
          </a:graphicData>
        </a:graphic>
      </p:graphicFrame>
    </p:spTree>
    <p:extLst>
      <p:ext uri="{BB962C8B-B14F-4D97-AF65-F5344CB8AC3E}">
        <p14:creationId xmlns:p14="http://schemas.microsoft.com/office/powerpoint/2010/main" val="688752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D459C-004F-9CA4-0E41-20720B5CC243}"/>
              </a:ext>
            </a:extLst>
          </p:cNvPr>
          <p:cNvSpPr>
            <a:spLocks noGrp="1"/>
          </p:cNvSpPr>
          <p:nvPr>
            <p:ph type="title"/>
          </p:nvPr>
        </p:nvSpPr>
        <p:spPr/>
        <p:txBody>
          <a:bodyPr/>
          <a:lstStyle/>
          <a:p>
            <a:r>
              <a:rPr lang="en-GB" dirty="0"/>
              <a:t>Facade</a:t>
            </a:r>
          </a:p>
        </p:txBody>
      </p:sp>
      <p:pic>
        <p:nvPicPr>
          <p:cNvPr id="1026" name="Picture 2">
            <a:extLst>
              <a:ext uri="{FF2B5EF4-FFF2-40B4-BE49-F238E27FC236}">
                <a16:creationId xmlns:a16="http://schemas.microsoft.com/office/drawing/2014/main" id="{33941EF5-38BE-CA83-37B2-6F81FAB44BD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2897314" y="1825625"/>
            <a:ext cx="6397372"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0FBE0F6-2CB5-0003-0FF1-A23FE1F3E469}"/>
              </a:ext>
            </a:extLst>
          </p:cNvPr>
          <p:cNvSpPr txBox="1"/>
          <p:nvPr/>
        </p:nvSpPr>
        <p:spPr>
          <a:xfrm>
            <a:off x="7130143" y="653143"/>
            <a:ext cx="4690150" cy="646331"/>
          </a:xfrm>
          <a:prstGeom prst="rect">
            <a:avLst/>
          </a:prstGeom>
          <a:noFill/>
        </p:spPr>
        <p:txBody>
          <a:bodyPr wrap="square" rtlCol="0">
            <a:spAutoFit/>
          </a:bodyPr>
          <a:lstStyle/>
          <a:p>
            <a:r>
              <a:rPr lang="en-GB" dirty="0"/>
              <a:t>Our client (controller) only interact with the façade and not the use cases directly</a:t>
            </a:r>
          </a:p>
        </p:txBody>
      </p:sp>
      <p:sp>
        <p:nvSpPr>
          <p:cNvPr id="5" name="TextBox 4">
            <a:extLst>
              <a:ext uri="{FF2B5EF4-FFF2-40B4-BE49-F238E27FC236}">
                <a16:creationId xmlns:a16="http://schemas.microsoft.com/office/drawing/2014/main" id="{366F9797-8326-B55D-AD7F-0EE2D39A3E95}"/>
              </a:ext>
            </a:extLst>
          </p:cNvPr>
          <p:cNvSpPr txBox="1"/>
          <p:nvPr/>
        </p:nvSpPr>
        <p:spPr>
          <a:xfrm>
            <a:off x="747132" y="1594624"/>
            <a:ext cx="2564781" cy="923330"/>
          </a:xfrm>
          <a:prstGeom prst="rect">
            <a:avLst/>
          </a:prstGeom>
          <a:noFill/>
        </p:spPr>
        <p:txBody>
          <a:bodyPr wrap="square" rtlCol="0">
            <a:spAutoFit/>
          </a:bodyPr>
          <a:lstStyle/>
          <a:p>
            <a:r>
              <a:rPr lang="en-GB" dirty="0"/>
              <a:t>Our façade manages the components required for the controller to work. </a:t>
            </a:r>
          </a:p>
        </p:txBody>
      </p:sp>
      <p:sp>
        <p:nvSpPr>
          <p:cNvPr id="6" name="TextBox 5">
            <a:extLst>
              <a:ext uri="{FF2B5EF4-FFF2-40B4-BE49-F238E27FC236}">
                <a16:creationId xmlns:a16="http://schemas.microsoft.com/office/drawing/2014/main" id="{54196B41-667B-A7B5-BFFB-1C163591A764}"/>
              </a:ext>
            </a:extLst>
          </p:cNvPr>
          <p:cNvSpPr txBox="1"/>
          <p:nvPr/>
        </p:nvSpPr>
        <p:spPr>
          <a:xfrm>
            <a:off x="9475218" y="3033132"/>
            <a:ext cx="2345075" cy="1477328"/>
          </a:xfrm>
          <a:prstGeom prst="rect">
            <a:avLst/>
          </a:prstGeom>
          <a:noFill/>
        </p:spPr>
        <p:txBody>
          <a:bodyPr wrap="square" rtlCol="0">
            <a:spAutoFit/>
          </a:bodyPr>
          <a:lstStyle/>
          <a:p>
            <a:r>
              <a:rPr lang="en-GB" dirty="0"/>
              <a:t>We can add additional components to our façade without affecting our wider code</a:t>
            </a:r>
          </a:p>
        </p:txBody>
      </p:sp>
      <p:sp>
        <p:nvSpPr>
          <p:cNvPr id="7" name="TextBox 6">
            <a:extLst>
              <a:ext uri="{FF2B5EF4-FFF2-40B4-BE49-F238E27FC236}">
                <a16:creationId xmlns:a16="http://schemas.microsoft.com/office/drawing/2014/main" id="{B7254B90-2A07-4266-A471-83D79771FA15}"/>
              </a:ext>
            </a:extLst>
          </p:cNvPr>
          <p:cNvSpPr txBox="1"/>
          <p:nvPr/>
        </p:nvSpPr>
        <p:spPr>
          <a:xfrm>
            <a:off x="379141" y="4510460"/>
            <a:ext cx="2141035" cy="1754326"/>
          </a:xfrm>
          <a:prstGeom prst="rect">
            <a:avLst/>
          </a:prstGeom>
          <a:noFill/>
        </p:spPr>
        <p:txBody>
          <a:bodyPr wrap="square" rtlCol="0">
            <a:spAutoFit/>
          </a:bodyPr>
          <a:lstStyle/>
          <a:p>
            <a:r>
              <a:rPr lang="en-GB" dirty="0"/>
              <a:t>Additional Facades could be created within the façade to form layers if our façade gets too complex</a:t>
            </a:r>
          </a:p>
        </p:txBody>
      </p:sp>
    </p:spTree>
    <p:extLst>
      <p:ext uri="{BB962C8B-B14F-4D97-AF65-F5344CB8AC3E}">
        <p14:creationId xmlns:p14="http://schemas.microsoft.com/office/powerpoint/2010/main" val="356679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a:hlinkClick r:id="" action="ppaction://ole?verb=0"/>
            <a:extLst>
              <a:ext uri="{FF2B5EF4-FFF2-40B4-BE49-F238E27FC236}">
                <a16:creationId xmlns:a16="http://schemas.microsoft.com/office/drawing/2014/main" id="{E26A5B9E-F9BD-5BAC-9841-E088AE3DB5DA}"/>
              </a:ext>
            </a:extLst>
          </p:cNvPr>
          <p:cNvGraphicFramePr>
            <a:graphicFrameLocks noChangeAspect="1"/>
          </p:cNvGraphicFramePr>
          <p:nvPr>
            <p:extLst>
              <p:ext uri="{D42A27DB-BD31-4B8C-83A1-F6EECF244321}">
                <p14:modId xmlns:p14="http://schemas.microsoft.com/office/powerpoint/2010/main" val="1444464746"/>
              </p:ext>
            </p:extLst>
          </p:nvPr>
        </p:nvGraphicFramePr>
        <p:xfrm>
          <a:off x="1812425" y="1019489"/>
          <a:ext cx="8567149" cy="4819021"/>
        </p:xfrm>
        <a:graphic>
          <a:graphicData uri="http://schemas.openxmlformats.org/presentationml/2006/ole">
            <mc:AlternateContent xmlns:mc="http://schemas.openxmlformats.org/markup-compatibility/2006">
              <mc:Choice xmlns:v="urn:schemas-microsoft-com:vml" Requires="v">
                <p:oleObj name="Presentation" r:id="rId2" imgW="6095975" imgH="3429123" progId="PowerPoint.Show.12">
                  <p:embed/>
                </p:oleObj>
              </mc:Choice>
              <mc:Fallback>
                <p:oleObj name="Presentation" r:id="rId2" imgW="6095975" imgH="3429123" progId="PowerPoint.Show.12">
                  <p:embed/>
                  <p:pic>
                    <p:nvPicPr>
                      <p:cNvPr id="0" name=""/>
                      <p:cNvPicPr/>
                      <p:nvPr/>
                    </p:nvPicPr>
                    <p:blipFill>
                      <a:blip r:embed="rId3"/>
                      <a:stretch>
                        <a:fillRect/>
                      </a:stretch>
                    </p:blipFill>
                    <p:spPr>
                      <a:xfrm>
                        <a:off x="1812425" y="1019489"/>
                        <a:ext cx="8567149" cy="4819021"/>
                      </a:xfrm>
                      <a:prstGeom prst="rect">
                        <a:avLst/>
                      </a:prstGeom>
                    </p:spPr>
                  </p:pic>
                </p:oleObj>
              </mc:Fallback>
            </mc:AlternateContent>
          </a:graphicData>
        </a:graphic>
      </p:graphicFrame>
    </p:spTree>
    <p:extLst>
      <p:ext uri="{BB962C8B-B14F-4D97-AF65-F5344CB8AC3E}">
        <p14:creationId xmlns:p14="http://schemas.microsoft.com/office/powerpoint/2010/main" val="1886845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F48CF-F927-67CB-C6BB-D403ECE7594C}"/>
              </a:ext>
            </a:extLst>
          </p:cNvPr>
          <p:cNvSpPr>
            <a:spLocks noGrp="1"/>
          </p:cNvSpPr>
          <p:nvPr>
            <p:ph type="title"/>
          </p:nvPr>
        </p:nvSpPr>
        <p:spPr/>
        <p:txBody>
          <a:bodyPr/>
          <a:lstStyle/>
          <a:p>
            <a:r>
              <a:rPr lang="en-GB" dirty="0"/>
              <a:t>Singleton + Builder</a:t>
            </a:r>
          </a:p>
        </p:txBody>
      </p:sp>
      <p:pic>
        <p:nvPicPr>
          <p:cNvPr id="5122" name="Picture 2">
            <a:extLst>
              <a:ext uri="{FF2B5EF4-FFF2-40B4-BE49-F238E27FC236}">
                <a16:creationId xmlns:a16="http://schemas.microsoft.com/office/drawing/2014/main" id="{69099212-7DC4-949E-5CC8-192998D8B48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995848" y="1416138"/>
            <a:ext cx="5403676" cy="43513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68CA697-06FA-038A-CB56-9559BE55F671}"/>
              </a:ext>
            </a:extLst>
          </p:cNvPr>
          <p:cNvSpPr txBox="1"/>
          <p:nvPr/>
        </p:nvSpPr>
        <p:spPr>
          <a:xfrm>
            <a:off x="446048" y="4567147"/>
            <a:ext cx="2438513" cy="1200329"/>
          </a:xfrm>
          <a:prstGeom prst="rect">
            <a:avLst/>
          </a:prstGeom>
          <a:noFill/>
        </p:spPr>
        <p:txBody>
          <a:bodyPr wrap="square" rtlCol="0">
            <a:spAutoFit/>
          </a:bodyPr>
          <a:lstStyle/>
          <a:p>
            <a:r>
              <a:rPr lang="en-GB" dirty="0"/>
              <a:t>Constructor is created private and empty so the class is instantized using </a:t>
            </a:r>
            <a:r>
              <a:rPr lang="en-GB" dirty="0" err="1"/>
              <a:t>getInstance</a:t>
            </a:r>
            <a:r>
              <a:rPr lang="en-GB" dirty="0"/>
              <a:t>()</a:t>
            </a:r>
          </a:p>
        </p:txBody>
      </p:sp>
      <p:sp>
        <p:nvSpPr>
          <p:cNvPr id="4" name="TextBox 3">
            <a:extLst>
              <a:ext uri="{FF2B5EF4-FFF2-40B4-BE49-F238E27FC236}">
                <a16:creationId xmlns:a16="http://schemas.microsoft.com/office/drawing/2014/main" id="{B32582A3-505C-9C29-EE2D-3717F3FAD84F}"/>
              </a:ext>
            </a:extLst>
          </p:cNvPr>
          <p:cNvSpPr txBox="1"/>
          <p:nvPr/>
        </p:nvSpPr>
        <p:spPr>
          <a:xfrm>
            <a:off x="8720253" y="4567147"/>
            <a:ext cx="3378820" cy="1200329"/>
          </a:xfrm>
          <a:prstGeom prst="rect">
            <a:avLst/>
          </a:prstGeom>
          <a:noFill/>
        </p:spPr>
        <p:txBody>
          <a:bodyPr wrap="square" rtlCol="0">
            <a:spAutoFit/>
          </a:bodyPr>
          <a:lstStyle/>
          <a:p>
            <a:r>
              <a:rPr lang="en-GB" dirty="0" err="1"/>
              <a:t>getInstance</a:t>
            </a:r>
            <a:r>
              <a:rPr lang="en-GB" dirty="0"/>
              <a:t>() is a static method which allows us to instantiate our </a:t>
            </a:r>
            <a:r>
              <a:rPr lang="en-GB" dirty="0" err="1"/>
              <a:t>Ioc_Container</a:t>
            </a:r>
            <a:r>
              <a:rPr lang="en-GB" dirty="0"/>
              <a:t> but also only allows us to return that instance of it </a:t>
            </a:r>
          </a:p>
        </p:txBody>
      </p:sp>
      <p:sp>
        <p:nvSpPr>
          <p:cNvPr id="5" name="TextBox 4">
            <a:extLst>
              <a:ext uri="{FF2B5EF4-FFF2-40B4-BE49-F238E27FC236}">
                <a16:creationId xmlns:a16="http://schemas.microsoft.com/office/drawing/2014/main" id="{0AA3B645-3A4E-FF97-820E-8D6FF80C01A7}"/>
              </a:ext>
            </a:extLst>
          </p:cNvPr>
          <p:cNvSpPr txBox="1"/>
          <p:nvPr/>
        </p:nvSpPr>
        <p:spPr>
          <a:xfrm>
            <a:off x="8720254" y="2202053"/>
            <a:ext cx="3378819" cy="923330"/>
          </a:xfrm>
          <a:prstGeom prst="rect">
            <a:avLst/>
          </a:prstGeom>
          <a:noFill/>
        </p:spPr>
        <p:txBody>
          <a:bodyPr wrap="square" rtlCol="0">
            <a:spAutoFit/>
          </a:bodyPr>
          <a:lstStyle/>
          <a:p>
            <a:r>
              <a:rPr lang="en-GB" dirty="0"/>
              <a:t>INSTANCE returns a new </a:t>
            </a:r>
            <a:r>
              <a:rPr lang="en-GB" dirty="0" err="1"/>
              <a:t>Ioc_Container</a:t>
            </a:r>
            <a:r>
              <a:rPr lang="en-GB" dirty="0"/>
              <a:t> and holds our one instance of the </a:t>
            </a:r>
            <a:r>
              <a:rPr lang="en-GB" dirty="0" err="1"/>
              <a:t>Ioc_Container</a:t>
            </a:r>
            <a:endParaRPr lang="en-GB" dirty="0"/>
          </a:p>
        </p:txBody>
      </p:sp>
      <p:sp>
        <p:nvSpPr>
          <p:cNvPr id="6" name="TextBox 5">
            <a:extLst>
              <a:ext uri="{FF2B5EF4-FFF2-40B4-BE49-F238E27FC236}">
                <a16:creationId xmlns:a16="http://schemas.microsoft.com/office/drawing/2014/main" id="{00B602EC-708D-DC65-E71D-5FDAF90F5560}"/>
              </a:ext>
            </a:extLst>
          </p:cNvPr>
          <p:cNvSpPr txBox="1"/>
          <p:nvPr/>
        </p:nvSpPr>
        <p:spPr>
          <a:xfrm>
            <a:off x="6803571" y="468086"/>
            <a:ext cx="5181599" cy="923330"/>
          </a:xfrm>
          <a:prstGeom prst="rect">
            <a:avLst/>
          </a:prstGeom>
          <a:noFill/>
        </p:spPr>
        <p:txBody>
          <a:bodyPr wrap="square" rtlCol="0">
            <a:spAutoFit/>
          </a:bodyPr>
          <a:lstStyle/>
          <a:p>
            <a:r>
              <a:rPr lang="en-GB" dirty="0"/>
              <a:t>As our code requires values passing to a constructer, we can use a builder pattern to build our </a:t>
            </a:r>
            <a:r>
              <a:rPr lang="en-GB" dirty="0" err="1"/>
              <a:t>Ioc_container</a:t>
            </a:r>
            <a:r>
              <a:rPr lang="en-GB" dirty="0"/>
              <a:t> before creating its single instance</a:t>
            </a:r>
          </a:p>
        </p:txBody>
      </p:sp>
      <p:sp>
        <p:nvSpPr>
          <p:cNvPr id="7" name="TextBox 6">
            <a:extLst>
              <a:ext uri="{FF2B5EF4-FFF2-40B4-BE49-F238E27FC236}">
                <a16:creationId xmlns:a16="http://schemas.microsoft.com/office/drawing/2014/main" id="{C40D6425-51FE-CBD0-8A72-EC172E89D616}"/>
              </a:ext>
            </a:extLst>
          </p:cNvPr>
          <p:cNvSpPr txBox="1"/>
          <p:nvPr/>
        </p:nvSpPr>
        <p:spPr>
          <a:xfrm>
            <a:off x="359229" y="2111829"/>
            <a:ext cx="1909625" cy="369332"/>
          </a:xfrm>
          <a:prstGeom prst="rect">
            <a:avLst/>
          </a:prstGeom>
          <a:noFill/>
        </p:spPr>
        <p:txBody>
          <a:bodyPr wrap="none" rtlCol="0">
            <a:spAutoFit/>
          </a:bodyPr>
          <a:lstStyle/>
          <a:p>
            <a:r>
              <a:rPr lang="en-GB" dirty="0"/>
              <a:t>Eager Initialisation</a:t>
            </a:r>
          </a:p>
        </p:txBody>
      </p:sp>
    </p:spTree>
    <p:extLst>
      <p:ext uri="{BB962C8B-B14F-4D97-AF65-F5344CB8AC3E}">
        <p14:creationId xmlns:p14="http://schemas.microsoft.com/office/powerpoint/2010/main" val="1393444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ontent Placeholder 12">
            <a:hlinkClick r:id="" action="ppaction://ole?verb=0"/>
            <a:extLst>
              <a:ext uri="{FF2B5EF4-FFF2-40B4-BE49-F238E27FC236}">
                <a16:creationId xmlns:a16="http://schemas.microsoft.com/office/drawing/2014/main" id="{D3388214-7902-03B1-3A9C-3649E2425104}"/>
              </a:ext>
            </a:extLst>
          </p:cNvPr>
          <p:cNvGraphicFramePr>
            <a:graphicFrameLocks noGrp="1" noChangeAspect="1"/>
          </p:cNvGraphicFramePr>
          <p:nvPr>
            <p:ph idx="1"/>
            <p:extLst>
              <p:ext uri="{D42A27DB-BD31-4B8C-83A1-F6EECF244321}">
                <p14:modId xmlns:p14="http://schemas.microsoft.com/office/powerpoint/2010/main" val="4077935926"/>
              </p:ext>
            </p:extLst>
          </p:nvPr>
        </p:nvGraphicFramePr>
        <p:xfrm>
          <a:off x="1987727" y="1118149"/>
          <a:ext cx="8216545" cy="4621702"/>
        </p:xfrm>
        <a:graphic>
          <a:graphicData uri="http://schemas.openxmlformats.org/presentationml/2006/ole">
            <mc:AlternateContent xmlns:mc="http://schemas.openxmlformats.org/markup-compatibility/2006">
              <mc:Choice xmlns:v="urn:schemas-microsoft-com:vml" Requires="v">
                <p:oleObj name="Presentation" r:id="rId2" imgW="6095975" imgH="3429123" progId="PowerPoint.Show.12">
                  <p:embed/>
                </p:oleObj>
              </mc:Choice>
              <mc:Fallback>
                <p:oleObj name="Presentation" r:id="rId2" imgW="6095975" imgH="3429123" progId="PowerPoint.Show.12">
                  <p:embed/>
                  <p:pic>
                    <p:nvPicPr>
                      <p:cNvPr id="0" name=""/>
                      <p:cNvPicPr/>
                      <p:nvPr/>
                    </p:nvPicPr>
                    <p:blipFill>
                      <a:blip r:embed="rId3"/>
                      <a:stretch>
                        <a:fillRect/>
                      </a:stretch>
                    </p:blipFill>
                    <p:spPr>
                      <a:xfrm>
                        <a:off x="1987727" y="1118149"/>
                        <a:ext cx="8216545" cy="4621702"/>
                      </a:xfrm>
                      <a:prstGeom prst="rect">
                        <a:avLst/>
                      </a:prstGeom>
                    </p:spPr>
                  </p:pic>
                </p:oleObj>
              </mc:Fallback>
            </mc:AlternateContent>
          </a:graphicData>
        </a:graphic>
      </p:graphicFrame>
    </p:spTree>
    <p:extLst>
      <p:ext uri="{BB962C8B-B14F-4D97-AF65-F5344CB8AC3E}">
        <p14:creationId xmlns:p14="http://schemas.microsoft.com/office/powerpoint/2010/main" val="3412878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CDC06-62B4-7A65-C605-360F04A03BDE}"/>
              </a:ext>
            </a:extLst>
          </p:cNvPr>
          <p:cNvSpPr>
            <a:spLocks noGrp="1"/>
          </p:cNvSpPr>
          <p:nvPr>
            <p:ph type="title"/>
          </p:nvPr>
        </p:nvSpPr>
        <p:spPr>
          <a:xfrm>
            <a:off x="661737" y="2578936"/>
            <a:ext cx="10515600" cy="1325563"/>
          </a:xfrm>
        </p:spPr>
        <p:txBody>
          <a:bodyPr>
            <a:normAutofit/>
          </a:bodyPr>
          <a:lstStyle/>
          <a:p>
            <a:r>
              <a:rPr lang="en-GB" sz="5400" dirty="0"/>
              <a:t>Critical Evaluation </a:t>
            </a:r>
          </a:p>
        </p:txBody>
      </p:sp>
    </p:spTree>
    <p:extLst>
      <p:ext uri="{BB962C8B-B14F-4D97-AF65-F5344CB8AC3E}">
        <p14:creationId xmlns:p14="http://schemas.microsoft.com/office/powerpoint/2010/main" val="3522899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06757-7557-68C6-E59D-E99989A6AE04}"/>
              </a:ext>
            </a:extLst>
          </p:cNvPr>
          <p:cNvSpPr>
            <a:spLocks noGrp="1"/>
          </p:cNvSpPr>
          <p:nvPr>
            <p:ph type="title"/>
          </p:nvPr>
        </p:nvSpPr>
        <p:spPr>
          <a:xfrm>
            <a:off x="838200" y="41592"/>
            <a:ext cx="10515600" cy="1325563"/>
          </a:xfrm>
        </p:spPr>
        <p:txBody>
          <a:bodyPr/>
          <a:lstStyle/>
          <a:p>
            <a:r>
              <a:rPr lang="en-GB" dirty="0"/>
              <a:t>OO Concepts</a:t>
            </a:r>
          </a:p>
        </p:txBody>
      </p:sp>
      <p:graphicFrame>
        <p:nvGraphicFramePr>
          <p:cNvPr id="4" name="Table 4">
            <a:extLst>
              <a:ext uri="{FF2B5EF4-FFF2-40B4-BE49-F238E27FC236}">
                <a16:creationId xmlns:a16="http://schemas.microsoft.com/office/drawing/2014/main" id="{B758D090-F6E5-0482-504C-AE3C0CA6433E}"/>
              </a:ext>
            </a:extLst>
          </p:cNvPr>
          <p:cNvGraphicFramePr>
            <a:graphicFrameLocks noGrp="1"/>
          </p:cNvGraphicFramePr>
          <p:nvPr>
            <p:ph idx="1"/>
            <p:extLst>
              <p:ext uri="{D42A27DB-BD31-4B8C-83A1-F6EECF244321}">
                <p14:modId xmlns:p14="http://schemas.microsoft.com/office/powerpoint/2010/main" val="3562730542"/>
              </p:ext>
            </p:extLst>
          </p:nvPr>
        </p:nvGraphicFramePr>
        <p:xfrm>
          <a:off x="685800" y="1095012"/>
          <a:ext cx="10515600" cy="4942840"/>
        </p:xfrm>
        <a:graphic>
          <a:graphicData uri="http://schemas.openxmlformats.org/drawingml/2006/table">
            <a:tbl>
              <a:tblPr firstRow="1" bandRow="1">
                <a:tableStyleId>{5C22544A-7EE6-4342-B048-85BDC9FD1C3A}</a:tableStyleId>
              </a:tblPr>
              <a:tblGrid>
                <a:gridCol w="1132114">
                  <a:extLst>
                    <a:ext uri="{9D8B030D-6E8A-4147-A177-3AD203B41FA5}">
                      <a16:colId xmlns:a16="http://schemas.microsoft.com/office/drawing/2014/main" val="2600932301"/>
                    </a:ext>
                  </a:extLst>
                </a:gridCol>
                <a:gridCol w="4833257">
                  <a:extLst>
                    <a:ext uri="{9D8B030D-6E8A-4147-A177-3AD203B41FA5}">
                      <a16:colId xmlns:a16="http://schemas.microsoft.com/office/drawing/2014/main" val="1840683650"/>
                    </a:ext>
                  </a:extLst>
                </a:gridCol>
                <a:gridCol w="2122715">
                  <a:extLst>
                    <a:ext uri="{9D8B030D-6E8A-4147-A177-3AD203B41FA5}">
                      <a16:colId xmlns:a16="http://schemas.microsoft.com/office/drawing/2014/main" val="536472380"/>
                    </a:ext>
                  </a:extLst>
                </a:gridCol>
                <a:gridCol w="2427514">
                  <a:extLst>
                    <a:ext uri="{9D8B030D-6E8A-4147-A177-3AD203B41FA5}">
                      <a16:colId xmlns:a16="http://schemas.microsoft.com/office/drawing/2014/main" val="1579153781"/>
                    </a:ext>
                  </a:extLst>
                </a:gridCol>
              </a:tblGrid>
              <a:tr h="370840">
                <a:tc>
                  <a:txBody>
                    <a:bodyPr/>
                    <a:lstStyle/>
                    <a:p>
                      <a:r>
                        <a:rPr lang="en-GB" sz="1200" dirty="0"/>
                        <a:t>Concept</a:t>
                      </a:r>
                    </a:p>
                  </a:txBody>
                  <a:tcPr/>
                </a:tc>
                <a:tc>
                  <a:txBody>
                    <a:bodyPr/>
                    <a:lstStyle/>
                    <a:p>
                      <a:r>
                        <a:rPr lang="en-GB" sz="1200" dirty="0"/>
                        <a:t>Definition</a:t>
                      </a:r>
                    </a:p>
                  </a:txBody>
                  <a:tcPr/>
                </a:tc>
                <a:tc>
                  <a:txBody>
                    <a:bodyPr/>
                    <a:lstStyle/>
                    <a:p>
                      <a:r>
                        <a:rPr lang="en-GB" sz="1200" dirty="0"/>
                        <a:t>Reference</a:t>
                      </a:r>
                    </a:p>
                  </a:txBody>
                  <a:tcPr/>
                </a:tc>
                <a:tc>
                  <a:txBody>
                    <a:bodyPr/>
                    <a:lstStyle/>
                    <a:p>
                      <a:r>
                        <a:rPr lang="en-GB" sz="1200" dirty="0"/>
                        <a:t>Example</a:t>
                      </a:r>
                    </a:p>
                  </a:txBody>
                  <a:tcPr/>
                </a:tc>
                <a:extLst>
                  <a:ext uri="{0D108BD9-81ED-4DB2-BD59-A6C34878D82A}">
                    <a16:rowId xmlns:a16="http://schemas.microsoft.com/office/drawing/2014/main" val="175171425"/>
                  </a:ext>
                </a:extLst>
              </a:tr>
              <a:tr h="370840">
                <a:tc>
                  <a:txBody>
                    <a:bodyPr/>
                    <a:lstStyle/>
                    <a:p>
                      <a:r>
                        <a:rPr lang="en-GB" sz="1200" dirty="0"/>
                        <a:t>Abstraction</a:t>
                      </a:r>
                    </a:p>
                  </a:txBody>
                  <a:tcPr/>
                </a:tc>
                <a:tc>
                  <a:txBody>
                    <a:bodyPr/>
                    <a:lstStyle/>
                    <a:p>
                      <a:r>
                        <a:rPr lang="en-GB" sz="1200" b="0" i="0" kern="1200" dirty="0">
                          <a:solidFill>
                            <a:schemeClr val="dk1"/>
                          </a:solidFill>
                          <a:effectLst/>
                          <a:latin typeface="+mn-lt"/>
                          <a:ea typeface="+mn-ea"/>
                          <a:cs typeface="+mn-cs"/>
                        </a:rPr>
                        <a:t>Abstraction simplifies complex systems by focusing on essential features and hiding unnecessary details, allowing for clear and concise representations while hiding implementation complexities.</a:t>
                      </a:r>
                      <a:endParaRPr lang="en-GB" sz="1200" dirty="0"/>
                    </a:p>
                  </a:txBody>
                  <a:tcPr/>
                </a:tc>
                <a:tc>
                  <a:txBody>
                    <a:bodyPr/>
                    <a:lstStyle/>
                    <a:p>
                      <a:r>
                        <a:rPr lang="en-GB" sz="1200" dirty="0"/>
                        <a:t>“We can thus abstract out attributes and </a:t>
                      </a:r>
                      <a:r>
                        <a:rPr lang="en-GB" sz="1200" dirty="0" err="1"/>
                        <a:t>behaviors</a:t>
                      </a:r>
                      <a:r>
                        <a:rPr lang="en-GB" sz="1200" dirty="0"/>
                        <a:t> for common classes. For example, dogs and cats are both mammals..”(</a:t>
                      </a:r>
                      <a:r>
                        <a:rPr lang="en-GB" sz="1200" dirty="0" err="1"/>
                        <a:t>Weisfeld</a:t>
                      </a:r>
                      <a:r>
                        <a:rPr lang="en-GB" sz="1200" dirty="0"/>
                        <a:t>, 2019) </a:t>
                      </a:r>
                    </a:p>
                  </a:txBody>
                  <a:tcPr/>
                </a:tc>
                <a:tc>
                  <a:txBody>
                    <a:bodyPr/>
                    <a:lstStyle/>
                    <a:p>
                      <a:r>
                        <a:rPr lang="en-GB" sz="1200" dirty="0"/>
                        <a:t>Our factory method abstracts the creation our into our factory and </a:t>
                      </a:r>
                      <a:r>
                        <a:rPr lang="en-GB" sz="1200" dirty="0" err="1"/>
                        <a:t>usecaseCommand</a:t>
                      </a:r>
                      <a:r>
                        <a:rPr lang="en-GB" sz="1200" dirty="0"/>
                        <a:t>, requiring the actual implementation of the use  cases to remain hidden</a:t>
                      </a:r>
                    </a:p>
                  </a:txBody>
                  <a:tcPr/>
                </a:tc>
                <a:extLst>
                  <a:ext uri="{0D108BD9-81ED-4DB2-BD59-A6C34878D82A}">
                    <a16:rowId xmlns:a16="http://schemas.microsoft.com/office/drawing/2014/main" val="3640022251"/>
                  </a:ext>
                </a:extLst>
              </a:tr>
              <a:tr h="370840">
                <a:tc>
                  <a:txBody>
                    <a:bodyPr/>
                    <a:lstStyle/>
                    <a:p>
                      <a:r>
                        <a:rPr lang="en-GB" sz="1200" dirty="0"/>
                        <a:t>Encapsulation</a:t>
                      </a:r>
                    </a:p>
                  </a:txBody>
                  <a:tcPr/>
                </a:tc>
                <a:tc>
                  <a:txBody>
                    <a:bodyPr/>
                    <a:lstStyle/>
                    <a:p>
                      <a:r>
                        <a:rPr lang="en-GB" sz="1200" dirty="0"/>
                        <a:t>Encapsulation combines data and method into a class, where the data is protected and can only be accessed and modified through defined methods. It ensures the internal state of a object is not accessible from outside</a:t>
                      </a:r>
                    </a:p>
                  </a:txBody>
                  <a:tcPr/>
                </a:tc>
                <a:tc>
                  <a:txBody>
                    <a:bodyPr/>
                    <a:lstStyle/>
                    <a:p>
                      <a:r>
                        <a:rPr lang="en-GB" sz="1200" b="0" i="0" kern="1200" dirty="0">
                          <a:solidFill>
                            <a:schemeClr val="dk1"/>
                          </a:solidFill>
                          <a:effectLst/>
                          <a:latin typeface="+mn-lt"/>
                          <a:ea typeface="+mn-ea"/>
                          <a:cs typeface="+mn-cs"/>
                        </a:rPr>
                        <a:t>“Encapsulation is defined by the fact that objects contain both the attributes and </a:t>
                      </a:r>
                      <a:r>
                        <a:rPr lang="en-GB" sz="1200" b="0" i="0" kern="1200" dirty="0" err="1">
                          <a:solidFill>
                            <a:schemeClr val="dk1"/>
                          </a:solidFill>
                          <a:effectLst/>
                          <a:latin typeface="+mn-lt"/>
                          <a:ea typeface="+mn-ea"/>
                          <a:cs typeface="+mn-cs"/>
                        </a:rPr>
                        <a:t>behaviors</a:t>
                      </a:r>
                      <a:r>
                        <a:rPr lang="en-GB" sz="1200" b="0" i="0" kern="1200" dirty="0">
                          <a:solidFill>
                            <a:schemeClr val="dk1"/>
                          </a:solidFill>
                          <a:effectLst/>
                          <a:latin typeface="+mn-lt"/>
                          <a:ea typeface="+mn-ea"/>
                          <a:cs typeface="+mn-cs"/>
                        </a:rPr>
                        <a:t>. Data hiding is a major part of encapsulation.” (</a:t>
                      </a:r>
                      <a:r>
                        <a:rPr lang="en-GB" sz="1200" b="0" i="0" kern="1200" dirty="0" err="1">
                          <a:solidFill>
                            <a:schemeClr val="dk1"/>
                          </a:solidFill>
                          <a:effectLst/>
                          <a:latin typeface="+mn-lt"/>
                          <a:ea typeface="+mn-ea"/>
                          <a:cs typeface="+mn-cs"/>
                        </a:rPr>
                        <a:t>Weisfeld</a:t>
                      </a:r>
                      <a:r>
                        <a:rPr lang="en-GB" sz="1200" b="0" i="0" kern="1200" dirty="0">
                          <a:solidFill>
                            <a:schemeClr val="dk1"/>
                          </a:solidFill>
                          <a:effectLst/>
                          <a:latin typeface="+mn-lt"/>
                          <a:ea typeface="+mn-ea"/>
                          <a:cs typeface="+mn-cs"/>
                        </a:rPr>
                        <a:t>, 2019)</a:t>
                      </a:r>
                      <a:endParaRPr lang="en-GB" sz="1200" dirty="0"/>
                    </a:p>
                  </a:txBody>
                  <a:tcPr/>
                </a:tc>
                <a:tc>
                  <a:txBody>
                    <a:bodyPr/>
                    <a:lstStyle/>
                    <a:p>
                      <a:r>
                        <a:rPr lang="en-GB" sz="1200" dirty="0"/>
                        <a:t>We use a builder method to encapsulate the creation of </a:t>
                      </a:r>
                      <a:r>
                        <a:rPr lang="en-GB" sz="1200" dirty="0" err="1"/>
                        <a:t>Ioc_Container</a:t>
                      </a:r>
                      <a:r>
                        <a:rPr lang="en-GB" sz="1200" dirty="0"/>
                        <a:t> singleton. Our use of iteration of our skills is also encapsulating our skill information</a:t>
                      </a:r>
                    </a:p>
                  </a:txBody>
                  <a:tcPr/>
                </a:tc>
                <a:extLst>
                  <a:ext uri="{0D108BD9-81ED-4DB2-BD59-A6C34878D82A}">
                    <a16:rowId xmlns:a16="http://schemas.microsoft.com/office/drawing/2014/main" val="3042708287"/>
                  </a:ext>
                </a:extLst>
              </a:tr>
              <a:tr h="370840">
                <a:tc>
                  <a:txBody>
                    <a:bodyPr/>
                    <a:lstStyle/>
                    <a:p>
                      <a:r>
                        <a:rPr lang="en-GB" sz="1200" dirty="0"/>
                        <a:t>Inheritance</a:t>
                      </a:r>
                    </a:p>
                  </a:txBody>
                  <a:tcPr/>
                </a:tc>
                <a:tc>
                  <a:txBody>
                    <a:bodyPr/>
                    <a:lstStyle/>
                    <a:p>
                      <a:r>
                        <a:rPr lang="en-GB" sz="1200" dirty="0"/>
                        <a:t>Inheritance allows classes to inherit properties and behaviours from other classes in a hierarchical structure.</a:t>
                      </a:r>
                    </a:p>
                  </a:txBody>
                  <a:tcPr/>
                </a:tc>
                <a:tc>
                  <a:txBody>
                    <a:bodyPr/>
                    <a:lstStyle/>
                    <a:p>
                      <a:r>
                        <a:rPr lang="en-GB" sz="1200" b="0" i="0" kern="1200" dirty="0">
                          <a:solidFill>
                            <a:schemeClr val="dk1"/>
                          </a:solidFill>
                          <a:effectLst/>
                          <a:latin typeface="+mn-lt"/>
                          <a:ea typeface="+mn-ea"/>
                          <a:cs typeface="+mn-cs"/>
                        </a:rPr>
                        <a:t>“Inheritance enables a class to inherit the attributes and methods of another class. This provides the ability to create new classes by abstracting out common attributes and </a:t>
                      </a:r>
                      <a:r>
                        <a:rPr lang="en-GB" sz="1200" b="0" i="0" kern="1200" dirty="0" err="1">
                          <a:solidFill>
                            <a:schemeClr val="dk1"/>
                          </a:solidFill>
                          <a:effectLst/>
                          <a:latin typeface="+mn-lt"/>
                          <a:ea typeface="+mn-ea"/>
                          <a:cs typeface="+mn-cs"/>
                        </a:rPr>
                        <a:t>behaviors</a:t>
                      </a:r>
                      <a:r>
                        <a:rPr lang="en-GB" sz="1200" b="0" i="0" kern="1200" dirty="0">
                          <a:solidFill>
                            <a:schemeClr val="dk1"/>
                          </a:solidFill>
                          <a:effectLst/>
                          <a:latin typeface="+mn-lt"/>
                          <a:ea typeface="+mn-ea"/>
                          <a:cs typeface="+mn-cs"/>
                        </a:rPr>
                        <a:t> from another class.” (</a:t>
                      </a:r>
                      <a:r>
                        <a:rPr lang="en-GB" sz="1200" b="0" i="0" kern="1200" dirty="0" err="1">
                          <a:solidFill>
                            <a:schemeClr val="dk1"/>
                          </a:solidFill>
                          <a:effectLst/>
                          <a:latin typeface="+mn-lt"/>
                          <a:ea typeface="+mn-ea"/>
                          <a:cs typeface="+mn-cs"/>
                        </a:rPr>
                        <a:t>Weisfeld</a:t>
                      </a:r>
                      <a:r>
                        <a:rPr lang="en-GB" sz="1200" b="0" i="0" kern="1200" dirty="0">
                          <a:solidFill>
                            <a:schemeClr val="dk1"/>
                          </a:solidFill>
                          <a:effectLst/>
                          <a:latin typeface="+mn-lt"/>
                          <a:ea typeface="+mn-ea"/>
                          <a:cs typeface="+mn-cs"/>
                        </a:rPr>
                        <a:t>, 2019)</a:t>
                      </a:r>
                      <a:endParaRPr lang="en-GB" sz="1200" dirty="0"/>
                    </a:p>
                  </a:txBody>
                  <a:tcPr/>
                </a:tc>
                <a:tc>
                  <a:txBody>
                    <a:bodyPr/>
                    <a:lstStyle/>
                    <a:p>
                      <a:r>
                        <a:rPr lang="en-GB" sz="1200" dirty="0"/>
                        <a:t>Manager and </a:t>
                      </a:r>
                      <a:r>
                        <a:rPr lang="en-GB" sz="1200" dirty="0" err="1"/>
                        <a:t>StaffUser</a:t>
                      </a:r>
                      <a:r>
                        <a:rPr lang="en-GB" sz="1200" dirty="0"/>
                        <a:t> both inherit from the Abstract User Class </a:t>
                      </a:r>
                    </a:p>
                  </a:txBody>
                  <a:tcPr/>
                </a:tc>
                <a:extLst>
                  <a:ext uri="{0D108BD9-81ED-4DB2-BD59-A6C34878D82A}">
                    <a16:rowId xmlns:a16="http://schemas.microsoft.com/office/drawing/2014/main" val="3095568554"/>
                  </a:ext>
                </a:extLst>
              </a:tr>
              <a:tr h="370840">
                <a:tc>
                  <a:txBody>
                    <a:bodyPr/>
                    <a:lstStyle/>
                    <a:p>
                      <a:r>
                        <a:rPr lang="en-GB" sz="1200" dirty="0"/>
                        <a:t>Polymorphism</a:t>
                      </a:r>
                    </a:p>
                  </a:txBody>
                  <a:tcPr/>
                </a:tc>
                <a:tc>
                  <a:txBody>
                    <a:bodyPr/>
                    <a:lstStyle/>
                    <a:p>
                      <a:r>
                        <a:rPr lang="en-GB" sz="1200" dirty="0"/>
                        <a:t>Polymorphism allows objects of different classes to be treated as objects of a common superclass. It can allow for a single interface to represent multiple related classes. </a:t>
                      </a:r>
                    </a:p>
                  </a:txBody>
                  <a:tcPr/>
                </a:tc>
                <a:tc>
                  <a:txBody>
                    <a:bodyPr/>
                    <a:lstStyle/>
                    <a:p>
                      <a:r>
                        <a:rPr lang="en-GB" sz="1200" dirty="0"/>
                        <a:t>“</a:t>
                      </a:r>
                      <a:r>
                        <a:rPr lang="en-GB" sz="1200" b="0" i="0" kern="1200" dirty="0">
                          <a:solidFill>
                            <a:schemeClr val="dk1"/>
                          </a:solidFill>
                          <a:effectLst/>
                          <a:latin typeface="+mn-lt"/>
                          <a:ea typeface="+mn-ea"/>
                          <a:cs typeface="+mn-cs"/>
                        </a:rPr>
                        <a:t>Polymorphism means that similar objects can respond to the same message in different ways .” </a:t>
                      </a:r>
                      <a:r>
                        <a:rPr lang="en-GB" sz="1200" b="0" i="0" kern="1200" dirty="0" err="1">
                          <a:solidFill>
                            <a:schemeClr val="dk1"/>
                          </a:solidFill>
                          <a:effectLst/>
                          <a:latin typeface="+mn-lt"/>
                          <a:ea typeface="+mn-ea"/>
                          <a:cs typeface="+mn-cs"/>
                        </a:rPr>
                        <a:t>Weisfeld</a:t>
                      </a:r>
                      <a:r>
                        <a:rPr lang="en-GB" sz="1200" b="0" i="0" kern="1200" dirty="0">
                          <a:solidFill>
                            <a:schemeClr val="dk1"/>
                          </a:solidFill>
                          <a:effectLst/>
                          <a:latin typeface="+mn-lt"/>
                          <a:ea typeface="+mn-ea"/>
                          <a:cs typeface="+mn-cs"/>
                        </a:rPr>
                        <a:t>, 2019)</a:t>
                      </a:r>
                      <a:endParaRPr lang="en-GB" sz="1200" dirty="0"/>
                    </a:p>
                  </a:txBody>
                  <a:tcPr/>
                </a:tc>
                <a:tc>
                  <a:txBody>
                    <a:bodyPr/>
                    <a:lstStyle/>
                    <a:p>
                      <a:r>
                        <a:rPr lang="en-GB" sz="1200" dirty="0"/>
                        <a:t>We use polymorphism in our iterator class as it will iterate over any collection as long as it can support a iterator </a:t>
                      </a:r>
                    </a:p>
                  </a:txBody>
                  <a:tcPr/>
                </a:tc>
                <a:extLst>
                  <a:ext uri="{0D108BD9-81ED-4DB2-BD59-A6C34878D82A}">
                    <a16:rowId xmlns:a16="http://schemas.microsoft.com/office/drawing/2014/main" val="2930085112"/>
                  </a:ext>
                </a:extLst>
              </a:tr>
            </a:tbl>
          </a:graphicData>
        </a:graphic>
      </p:graphicFrame>
      <p:sp>
        <p:nvSpPr>
          <p:cNvPr id="5" name="TextBox 4">
            <a:extLst>
              <a:ext uri="{FF2B5EF4-FFF2-40B4-BE49-F238E27FC236}">
                <a16:creationId xmlns:a16="http://schemas.microsoft.com/office/drawing/2014/main" id="{D0438394-AB0A-274F-09CE-A0841DA8A8D9}"/>
              </a:ext>
            </a:extLst>
          </p:cNvPr>
          <p:cNvSpPr txBox="1"/>
          <p:nvPr/>
        </p:nvSpPr>
        <p:spPr>
          <a:xfrm>
            <a:off x="5834743" y="446314"/>
            <a:ext cx="4191340" cy="369332"/>
          </a:xfrm>
          <a:prstGeom prst="rect">
            <a:avLst/>
          </a:prstGeom>
          <a:noFill/>
        </p:spPr>
        <p:txBody>
          <a:bodyPr wrap="none" rtlCol="0">
            <a:spAutoFit/>
          </a:bodyPr>
          <a:lstStyle/>
          <a:p>
            <a:r>
              <a:rPr lang="en-GB" dirty="0"/>
              <a:t>No page numbers available for online texts</a:t>
            </a:r>
          </a:p>
        </p:txBody>
      </p:sp>
      <p:pic>
        <p:nvPicPr>
          <p:cNvPr id="7" name="Picture 6">
            <a:extLst>
              <a:ext uri="{FF2B5EF4-FFF2-40B4-BE49-F238E27FC236}">
                <a16:creationId xmlns:a16="http://schemas.microsoft.com/office/drawing/2014/main" id="{E54CFE3C-BAC0-E9F0-6307-7988710557CC}"/>
              </a:ext>
            </a:extLst>
          </p:cNvPr>
          <p:cNvPicPr>
            <a:picLocks noChangeAspect="1"/>
          </p:cNvPicPr>
          <p:nvPr/>
        </p:nvPicPr>
        <p:blipFill>
          <a:blip r:embed="rId2"/>
          <a:stretch>
            <a:fillRect/>
          </a:stretch>
        </p:blipFill>
        <p:spPr>
          <a:xfrm>
            <a:off x="8996183" y="4424069"/>
            <a:ext cx="2697374" cy="290172"/>
          </a:xfrm>
          <a:prstGeom prst="rect">
            <a:avLst/>
          </a:prstGeom>
        </p:spPr>
      </p:pic>
    </p:spTree>
    <p:extLst>
      <p:ext uri="{BB962C8B-B14F-4D97-AF65-F5344CB8AC3E}">
        <p14:creationId xmlns:p14="http://schemas.microsoft.com/office/powerpoint/2010/main" val="1393202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C7BB0-A843-9752-F992-7A10A36FD459}"/>
              </a:ext>
            </a:extLst>
          </p:cNvPr>
          <p:cNvSpPr>
            <a:spLocks noGrp="1"/>
          </p:cNvSpPr>
          <p:nvPr>
            <p:ph type="title"/>
          </p:nvPr>
        </p:nvSpPr>
        <p:spPr>
          <a:xfrm>
            <a:off x="838200" y="44285"/>
            <a:ext cx="10515600" cy="1325563"/>
          </a:xfrm>
        </p:spPr>
        <p:txBody>
          <a:bodyPr>
            <a:normAutofit/>
          </a:bodyPr>
          <a:lstStyle/>
          <a:p>
            <a:r>
              <a:rPr lang="en-GB" dirty="0"/>
              <a:t>SOLID</a:t>
            </a:r>
          </a:p>
        </p:txBody>
      </p:sp>
      <p:graphicFrame>
        <p:nvGraphicFramePr>
          <p:cNvPr id="4" name="Table 4">
            <a:extLst>
              <a:ext uri="{FF2B5EF4-FFF2-40B4-BE49-F238E27FC236}">
                <a16:creationId xmlns:a16="http://schemas.microsoft.com/office/drawing/2014/main" id="{FB24CD59-D58C-5438-CD14-6289DFED81AD}"/>
              </a:ext>
            </a:extLst>
          </p:cNvPr>
          <p:cNvGraphicFramePr>
            <a:graphicFrameLocks noGrp="1"/>
          </p:cNvGraphicFramePr>
          <p:nvPr>
            <p:ph idx="1"/>
            <p:extLst>
              <p:ext uri="{D42A27DB-BD31-4B8C-83A1-F6EECF244321}">
                <p14:modId xmlns:p14="http://schemas.microsoft.com/office/powerpoint/2010/main" val="497160882"/>
              </p:ext>
            </p:extLst>
          </p:nvPr>
        </p:nvGraphicFramePr>
        <p:xfrm>
          <a:off x="385012" y="1004040"/>
          <a:ext cx="11405936" cy="5400040"/>
        </p:xfrm>
        <a:graphic>
          <a:graphicData uri="http://schemas.openxmlformats.org/drawingml/2006/table">
            <a:tbl>
              <a:tblPr firstRow="1" bandRow="1">
                <a:tableStyleId>{5C22544A-7EE6-4342-B048-85BDC9FD1C3A}</a:tableStyleId>
              </a:tblPr>
              <a:tblGrid>
                <a:gridCol w="2018813">
                  <a:extLst>
                    <a:ext uri="{9D8B030D-6E8A-4147-A177-3AD203B41FA5}">
                      <a16:colId xmlns:a16="http://schemas.microsoft.com/office/drawing/2014/main" val="3175228347"/>
                    </a:ext>
                  </a:extLst>
                </a:gridCol>
                <a:gridCol w="3174528">
                  <a:extLst>
                    <a:ext uri="{9D8B030D-6E8A-4147-A177-3AD203B41FA5}">
                      <a16:colId xmlns:a16="http://schemas.microsoft.com/office/drawing/2014/main" val="1924203720"/>
                    </a:ext>
                  </a:extLst>
                </a:gridCol>
                <a:gridCol w="3131099">
                  <a:extLst>
                    <a:ext uri="{9D8B030D-6E8A-4147-A177-3AD203B41FA5}">
                      <a16:colId xmlns:a16="http://schemas.microsoft.com/office/drawing/2014/main" val="1932252073"/>
                    </a:ext>
                  </a:extLst>
                </a:gridCol>
                <a:gridCol w="3081496">
                  <a:extLst>
                    <a:ext uri="{9D8B030D-6E8A-4147-A177-3AD203B41FA5}">
                      <a16:colId xmlns:a16="http://schemas.microsoft.com/office/drawing/2014/main" val="1280094546"/>
                    </a:ext>
                  </a:extLst>
                </a:gridCol>
              </a:tblGrid>
              <a:tr h="370840">
                <a:tc>
                  <a:txBody>
                    <a:bodyPr/>
                    <a:lstStyle/>
                    <a:p>
                      <a:r>
                        <a:rPr lang="en-GB" sz="1200" i="0" dirty="0"/>
                        <a:t>Principle</a:t>
                      </a:r>
                    </a:p>
                  </a:txBody>
                  <a:tcPr/>
                </a:tc>
                <a:tc>
                  <a:txBody>
                    <a:bodyPr/>
                    <a:lstStyle/>
                    <a:p>
                      <a:r>
                        <a:rPr lang="en-GB" sz="1200" i="0" dirty="0"/>
                        <a:t>Definition</a:t>
                      </a:r>
                    </a:p>
                  </a:txBody>
                  <a:tcPr/>
                </a:tc>
                <a:tc>
                  <a:txBody>
                    <a:bodyPr/>
                    <a:lstStyle/>
                    <a:p>
                      <a:r>
                        <a:rPr lang="en-GB" sz="1200" i="0" dirty="0"/>
                        <a:t>Reference </a:t>
                      </a:r>
                    </a:p>
                  </a:txBody>
                  <a:tcPr/>
                </a:tc>
                <a:tc>
                  <a:txBody>
                    <a:bodyPr/>
                    <a:lstStyle/>
                    <a:p>
                      <a:r>
                        <a:rPr lang="en-GB" sz="1200" i="0" dirty="0"/>
                        <a:t>Example</a:t>
                      </a:r>
                    </a:p>
                  </a:txBody>
                  <a:tcPr/>
                </a:tc>
                <a:extLst>
                  <a:ext uri="{0D108BD9-81ED-4DB2-BD59-A6C34878D82A}">
                    <a16:rowId xmlns:a16="http://schemas.microsoft.com/office/drawing/2014/main" val="234418968"/>
                  </a:ext>
                </a:extLst>
              </a:tr>
              <a:tr h="370840">
                <a:tc>
                  <a:txBody>
                    <a:bodyPr/>
                    <a:lstStyle/>
                    <a:p>
                      <a:r>
                        <a:rPr lang="en-GB" sz="1200" i="0" dirty="0"/>
                        <a:t>Single Responsibility (SRP)</a:t>
                      </a:r>
                    </a:p>
                  </a:txBody>
                  <a:tcPr/>
                </a:tc>
                <a:tc>
                  <a:txBody>
                    <a:bodyPr/>
                    <a:lstStyle/>
                    <a:p>
                      <a:r>
                        <a:rPr lang="en-GB" sz="1200" i="0" dirty="0"/>
                        <a:t>The Single Responsibility Principle states that a class should only have one purpose or reason to be changed. It results in code that is easier to understand, modify, and maintain.</a:t>
                      </a:r>
                    </a:p>
                  </a:txBody>
                  <a:tcPr/>
                </a:tc>
                <a:tc>
                  <a:txBody>
                    <a:bodyPr/>
                    <a:lstStyle/>
                    <a:p>
                      <a:r>
                        <a:rPr lang="en-GB" sz="1200" i="0" dirty="0"/>
                        <a:t>“</a:t>
                      </a:r>
                      <a:r>
                        <a:rPr lang="en-GB" sz="1200" b="0" i="0" kern="1200" dirty="0">
                          <a:solidFill>
                            <a:schemeClr val="dk1"/>
                          </a:solidFill>
                          <a:effectLst/>
                          <a:latin typeface="+mn-lt"/>
                          <a:ea typeface="+mn-ea"/>
                          <a:cs typeface="+mn-cs"/>
                        </a:rPr>
                        <a:t>A module should be responsible to one, and only one, actor.” (Martin, 2017) </a:t>
                      </a:r>
                      <a:endParaRPr lang="en-GB" sz="1200" i="0" dirty="0"/>
                    </a:p>
                  </a:txBody>
                  <a:tcPr/>
                </a:tc>
                <a:tc>
                  <a:txBody>
                    <a:bodyPr/>
                    <a:lstStyle/>
                    <a:p>
                      <a:r>
                        <a:rPr lang="en-GB" sz="1200" i="0" dirty="0"/>
                        <a:t>Validator, models, use cases, repositories </a:t>
                      </a:r>
                    </a:p>
                  </a:txBody>
                  <a:tcPr/>
                </a:tc>
                <a:extLst>
                  <a:ext uri="{0D108BD9-81ED-4DB2-BD59-A6C34878D82A}">
                    <a16:rowId xmlns:a16="http://schemas.microsoft.com/office/drawing/2014/main" val="3903489760"/>
                  </a:ext>
                </a:extLst>
              </a:tr>
              <a:tr h="370840">
                <a:tc>
                  <a:txBody>
                    <a:bodyPr/>
                    <a:lstStyle/>
                    <a:p>
                      <a:r>
                        <a:rPr lang="en-GB" sz="1200" i="0" dirty="0"/>
                        <a:t>Open Closed (OCP)</a:t>
                      </a:r>
                    </a:p>
                  </a:txBody>
                  <a:tcPr/>
                </a:tc>
                <a:tc>
                  <a:txBody>
                    <a:bodyPr/>
                    <a:lstStyle/>
                    <a:p>
                      <a:r>
                        <a:rPr lang="en-GB" sz="1200" b="0" i="0" kern="1200" dirty="0">
                          <a:solidFill>
                            <a:schemeClr val="dk1"/>
                          </a:solidFill>
                          <a:effectLst/>
                          <a:latin typeface="+mn-lt"/>
                          <a:ea typeface="+mn-ea"/>
                          <a:cs typeface="+mn-cs"/>
                        </a:rPr>
                        <a:t>The Open-Closed Principle suggests that code should be designed in a way that allows adding new functionalities without modifying existing code.</a:t>
                      </a:r>
                      <a:endParaRPr lang="en-GB" sz="1200" i="0" dirty="0"/>
                    </a:p>
                  </a:txBody>
                  <a:tcPr/>
                </a:tc>
                <a:tc>
                  <a:txBody>
                    <a:bodyPr/>
                    <a:lstStyle/>
                    <a:p>
                      <a:r>
                        <a:rPr lang="en-GB" sz="1200" i="0" dirty="0"/>
                        <a:t>“</a:t>
                      </a:r>
                      <a:r>
                        <a:rPr lang="en-GB" sz="1200" b="0" i="0" kern="1200" dirty="0">
                          <a:solidFill>
                            <a:schemeClr val="dk1"/>
                          </a:solidFill>
                          <a:effectLst/>
                          <a:latin typeface="+mn-lt"/>
                          <a:ea typeface="+mn-ea"/>
                          <a:cs typeface="+mn-cs"/>
                        </a:rPr>
                        <a:t>The Open/Close Principle states that you should be able to extend a class’s </a:t>
                      </a:r>
                      <a:r>
                        <a:rPr lang="en-GB" sz="1200" b="0" i="0" kern="1200" dirty="0" err="1">
                          <a:solidFill>
                            <a:schemeClr val="dk1"/>
                          </a:solidFill>
                          <a:effectLst/>
                          <a:latin typeface="+mn-lt"/>
                          <a:ea typeface="+mn-ea"/>
                          <a:cs typeface="+mn-cs"/>
                        </a:rPr>
                        <a:t>behavior</a:t>
                      </a:r>
                      <a:r>
                        <a:rPr lang="en-GB" sz="1200" b="0" i="0" kern="1200" dirty="0">
                          <a:solidFill>
                            <a:schemeClr val="dk1"/>
                          </a:solidFill>
                          <a:effectLst/>
                          <a:latin typeface="+mn-lt"/>
                          <a:ea typeface="+mn-ea"/>
                          <a:cs typeface="+mn-cs"/>
                        </a:rPr>
                        <a:t>, without modifying it.” (</a:t>
                      </a:r>
                      <a:r>
                        <a:rPr lang="en-GB" sz="1200" b="0" i="0" kern="1200" dirty="0" err="1">
                          <a:solidFill>
                            <a:schemeClr val="dk1"/>
                          </a:solidFill>
                          <a:effectLst/>
                          <a:latin typeface="+mn-lt"/>
                          <a:ea typeface="+mn-ea"/>
                          <a:cs typeface="+mn-cs"/>
                        </a:rPr>
                        <a:t>Weisfeld</a:t>
                      </a:r>
                      <a:r>
                        <a:rPr lang="en-GB" sz="1200" b="0" i="0" kern="1200" dirty="0">
                          <a:solidFill>
                            <a:schemeClr val="dk1"/>
                          </a:solidFill>
                          <a:effectLst/>
                          <a:latin typeface="+mn-lt"/>
                          <a:ea typeface="+mn-ea"/>
                          <a:cs typeface="+mn-cs"/>
                        </a:rPr>
                        <a:t>, 2019)</a:t>
                      </a:r>
                    </a:p>
                    <a:p>
                      <a:br>
                        <a:rPr lang="en-GB" sz="1200" dirty="0"/>
                      </a:br>
                      <a:endParaRPr lang="en-GB" sz="1200" i="0" dirty="0"/>
                    </a:p>
                  </a:txBody>
                  <a:tcPr/>
                </a:tc>
                <a:tc>
                  <a:txBody>
                    <a:bodyPr/>
                    <a:lstStyle/>
                    <a:p>
                      <a:r>
                        <a:rPr lang="en-GB" sz="1200" i="0" dirty="0"/>
                        <a:t>Using the user abstract class, we can extend it for multiple user types without having to modify User. </a:t>
                      </a:r>
                    </a:p>
                    <a:p>
                      <a:r>
                        <a:rPr lang="en-GB" sz="1200" i="0" dirty="0"/>
                        <a:t>It is also evident in the Validator, as we can continue to add classes to be validated without modifying the Validator strategy</a:t>
                      </a:r>
                    </a:p>
                  </a:txBody>
                  <a:tcPr/>
                </a:tc>
                <a:extLst>
                  <a:ext uri="{0D108BD9-81ED-4DB2-BD59-A6C34878D82A}">
                    <a16:rowId xmlns:a16="http://schemas.microsoft.com/office/drawing/2014/main" val="1382856804"/>
                  </a:ext>
                </a:extLst>
              </a:tr>
              <a:tr h="370840">
                <a:tc>
                  <a:txBody>
                    <a:bodyPr/>
                    <a:lstStyle/>
                    <a:p>
                      <a:r>
                        <a:rPr lang="en-GB" sz="1200" i="0" dirty="0" err="1"/>
                        <a:t>Liskov</a:t>
                      </a:r>
                      <a:r>
                        <a:rPr lang="en-GB" sz="1200" i="0" dirty="0"/>
                        <a:t> Substitution (LSP)</a:t>
                      </a:r>
                    </a:p>
                  </a:txBody>
                  <a:tcPr/>
                </a:tc>
                <a:tc>
                  <a:txBody>
                    <a:bodyPr/>
                    <a:lstStyle/>
                    <a:p>
                      <a:r>
                        <a:rPr lang="en-GB" sz="1200" b="0" i="0" kern="1200" dirty="0">
                          <a:solidFill>
                            <a:schemeClr val="dk1"/>
                          </a:solidFill>
                          <a:effectLst/>
                          <a:latin typeface="+mn-lt"/>
                          <a:ea typeface="+mn-ea"/>
                          <a:cs typeface="+mn-cs"/>
                        </a:rPr>
                        <a:t>The </a:t>
                      </a:r>
                      <a:r>
                        <a:rPr lang="en-GB" sz="1200" b="0" i="0" kern="1200" dirty="0" err="1">
                          <a:solidFill>
                            <a:schemeClr val="dk1"/>
                          </a:solidFill>
                          <a:effectLst/>
                          <a:latin typeface="+mn-lt"/>
                          <a:ea typeface="+mn-ea"/>
                          <a:cs typeface="+mn-cs"/>
                        </a:rPr>
                        <a:t>Liskov</a:t>
                      </a:r>
                      <a:r>
                        <a:rPr lang="en-GB" sz="1200" b="0" i="0" kern="1200" dirty="0">
                          <a:solidFill>
                            <a:schemeClr val="dk1"/>
                          </a:solidFill>
                          <a:effectLst/>
                          <a:latin typeface="+mn-lt"/>
                          <a:ea typeface="+mn-ea"/>
                          <a:cs typeface="+mn-cs"/>
                        </a:rPr>
                        <a:t> Substitution Principle states that objects of a superclass should be replaceable with objects of its subclasses without affecting the correctness of the program. </a:t>
                      </a:r>
                      <a:endParaRPr lang="en-GB" sz="1200" i="0" dirty="0"/>
                    </a:p>
                  </a:txBody>
                  <a:tcPr/>
                </a:tc>
                <a:tc>
                  <a:txBody>
                    <a:bodyPr/>
                    <a:lstStyle/>
                    <a:p>
                      <a:r>
                        <a:rPr lang="en-GB" sz="1200" b="0" i="0" kern="1200" dirty="0">
                          <a:solidFill>
                            <a:schemeClr val="dk1"/>
                          </a:solidFill>
                          <a:effectLst/>
                          <a:latin typeface="+mn-lt"/>
                          <a:ea typeface="+mn-ea"/>
                          <a:cs typeface="+mn-cs"/>
                        </a:rPr>
                        <a:t>“The </a:t>
                      </a:r>
                      <a:r>
                        <a:rPr lang="en-GB" sz="1200" b="0" i="0" kern="1200" dirty="0" err="1">
                          <a:solidFill>
                            <a:schemeClr val="dk1"/>
                          </a:solidFill>
                          <a:effectLst/>
                          <a:latin typeface="+mn-lt"/>
                          <a:ea typeface="+mn-ea"/>
                          <a:cs typeface="+mn-cs"/>
                        </a:rPr>
                        <a:t>Liskov</a:t>
                      </a:r>
                      <a:r>
                        <a:rPr lang="en-GB" sz="1200" b="0" i="0" kern="1200" dirty="0">
                          <a:solidFill>
                            <a:schemeClr val="dk1"/>
                          </a:solidFill>
                          <a:effectLst/>
                          <a:latin typeface="+mn-lt"/>
                          <a:ea typeface="+mn-ea"/>
                          <a:cs typeface="+mn-cs"/>
                        </a:rPr>
                        <a:t> Substitution Principle states that the design must provide the ability to replace any instance of a parent class with an instance of one of its child classes. If a parent class can do something, a child class must also be able to do it.” (</a:t>
                      </a:r>
                      <a:r>
                        <a:rPr lang="en-GB" sz="1200" b="0" i="0" kern="1200" dirty="0" err="1">
                          <a:solidFill>
                            <a:schemeClr val="dk1"/>
                          </a:solidFill>
                          <a:effectLst/>
                          <a:latin typeface="+mn-lt"/>
                          <a:ea typeface="+mn-ea"/>
                          <a:cs typeface="+mn-cs"/>
                        </a:rPr>
                        <a:t>WeisFeld</a:t>
                      </a:r>
                      <a:r>
                        <a:rPr lang="en-GB" sz="1200" b="0" i="0" kern="1200" dirty="0">
                          <a:solidFill>
                            <a:schemeClr val="dk1"/>
                          </a:solidFill>
                          <a:effectLst/>
                          <a:latin typeface="+mn-lt"/>
                          <a:ea typeface="+mn-ea"/>
                          <a:cs typeface="+mn-cs"/>
                        </a:rPr>
                        <a:t>, 2019)</a:t>
                      </a:r>
                      <a:endParaRPr lang="en-GB" sz="1200" i="0" dirty="0"/>
                    </a:p>
                  </a:txBody>
                  <a:tcPr/>
                </a:tc>
                <a:tc>
                  <a:txBody>
                    <a:bodyPr/>
                    <a:lstStyle/>
                    <a:p>
                      <a:r>
                        <a:rPr lang="en-GB" sz="1200" i="0" dirty="0"/>
                        <a:t>User is extended by Staff and Manager</a:t>
                      </a:r>
                    </a:p>
                  </a:txBody>
                  <a:tcPr/>
                </a:tc>
                <a:extLst>
                  <a:ext uri="{0D108BD9-81ED-4DB2-BD59-A6C34878D82A}">
                    <a16:rowId xmlns:a16="http://schemas.microsoft.com/office/drawing/2014/main" val="2054400909"/>
                  </a:ext>
                </a:extLst>
              </a:tr>
              <a:tr h="370840">
                <a:tc>
                  <a:txBody>
                    <a:bodyPr/>
                    <a:lstStyle/>
                    <a:p>
                      <a:r>
                        <a:rPr lang="en-GB" sz="1200" i="0" dirty="0"/>
                        <a:t>Interface Segregation</a:t>
                      </a:r>
                    </a:p>
                  </a:txBody>
                  <a:tcPr/>
                </a:tc>
                <a:tc>
                  <a:txBody>
                    <a:bodyPr/>
                    <a:lstStyle/>
                    <a:p>
                      <a:r>
                        <a:rPr lang="en-GB" sz="1200" b="0" i="0" kern="1200" dirty="0">
                          <a:solidFill>
                            <a:schemeClr val="dk1"/>
                          </a:solidFill>
                          <a:effectLst/>
                          <a:latin typeface="+mn-lt"/>
                          <a:ea typeface="+mn-ea"/>
                          <a:cs typeface="+mn-cs"/>
                        </a:rPr>
                        <a:t>The Interface Segregation Principle suggests that clients should only depend on the interfaces they actually use. It encourages creating smaller and more focused interfaces to avoid unnecessary dependencies and promote loose coupling.</a:t>
                      </a:r>
                      <a:endParaRPr lang="en-GB" sz="1200" i="0" dirty="0"/>
                    </a:p>
                  </a:txBody>
                  <a:tcPr/>
                </a:tc>
                <a:tc>
                  <a:txBody>
                    <a:bodyPr/>
                    <a:lstStyle/>
                    <a:p>
                      <a:r>
                        <a:rPr lang="en-GB" sz="1200" i="0" dirty="0"/>
                        <a:t>“</a:t>
                      </a:r>
                      <a:r>
                        <a:rPr lang="en-GB" sz="1200" b="0" i="0" kern="1200" dirty="0">
                          <a:solidFill>
                            <a:schemeClr val="dk1"/>
                          </a:solidFill>
                          <a:effectLst/>
                          <a:latin typeface="+mn-lt"/>
                          <a:ea typeface="+mn-ea"/>
                          <a:cs typeface="+mn-cs"/>
                        </a:rPr>
                        <a:t>The Interface Segregation Principle states that it is better to have many small interfaces than a few larger ones.” (</a:t>
                      </a:r>
                      <a:r>
                        <a:rPr lang="en-GB" sz="1200" b="0" i="0" kern="1200" dirty="0" err="1">
                          <a:solidFill>
                            <a:schemeClr val="dk1"/>
                          </a:solidFill>
                          <a:effectLst/>
                          <a:latin typeface="+mn-lt"/>
                          <a:ea typeface="+mn-ea"/>
                          <a:cs typeface="+mn-cs"/>
                        </a:rPr>
                        <a:t>WeisFeld</a:t>
                      </a:r>
                      <a:r>
                        <a:rPr lang="en-GB" sz="1200" b="0" i="0" kern="1200" dirty="0">
                          <a:solidFill>
                            <a:schemeClr val="dk1"/>
                          </a:solidFill>
                          <a:effectLst/>
                          <a:latin typeface="+mn-lt"/>
                          <a:ea typeface="+mn-ea"/>
                          <a:cs typeface="+mn-cs"/>
                        </a:rPr>
                        <a:t>, 2019)</a:t>
                      </a:r>
                      <a:endParaRPr lang="en-GB" sz="1200" i="0" dirty="0"/>
                    </a:p>
                  </a:txBody>
                  <a:tcPr/>
                </a:tc>
                <a:tc>
                  <a:txBody>
                    <a:bodyPr/>
                    <a:lstStyle/>
                    <a:p>
                      <a:r>
                        <a:rPr lang="en-GB" sz="1200" i="0" dirty="0"/>
                        <a:t>Smaller interfaces used across a range of classes, including but not limited to validation, controllers </a:t>
                      </a:r>
                    </a:p>
                  </a:txBody>
                  <a:tcPr/>
                </a:tc>
                <a:extLst>
                  <a:ext uri="{0D108BD9-81ED-4DB2-BD59-A6C34878D82A}">
                    <a16:rowId xmlns:a16="http://schemas.microsoft.com/office/drawing/2014/main" val="2145843609"/>
                  </a:ext>
                </a:extLst>
              </a:tr>
              <a:tr h="370840">
                <a:tc>
                  <a:txBody>
                    <a:bodyPr/>
                    <a:lstStyle/>
                    <a:p>
                      <a:r>
                        <a:rPr lang="en-GB" sz="1200" i="0" dirty="0"/>
                        <a:t>Dependency Inversion </a:t>
                      </a:r>
                    </a:p>
                  </a:txBody>
                  <a:tcPr/>
                </a:tc>
                <a:tc>
                  <a:txBody>
                    <a:bodyPr/>
                    <a:lstStyle/>
                    <a:p>
                      <a:r>
                        <a:rPr lang="en-GB" sz="1200" i="0" dirty="0"/>
                        <a:t>The Dependency Inversion principle suggests that clients should couple to abstract rather then concrete implementations. </a:t>
                      </a:r>
                    </a:p>
                  </a:txBody>
                  <a:tcPr/>
                </a:tc>
                <a:tc>
                  <a:txBody>
                    <a:bodyPr/>
                    <a:lstStyle/>
                    <a:p>
                      <a:r>
                        <a:rPr lang="en-GB" sz="1200" i="0" dirty="0"/>
                        <a:t>“</a:t>
                      </a:r>
                      <a:r>
                        <a:rPr lang="en-GB" sz="1200" b="0" i="0" kern="1200" dirty="0">
                          <a:solidFill>
                            <a:schemeClr val="dk1"/>
                          </a:solidFill>
                          <a:effectLst/>
                          <a:latin typeface="+mn-lt"/>
                          <a:ea typeface="+mn-ea"/>
                          <a:cs typeface="+mn-cs"/>
                        </a:rPr>
                        <a:t>The goal of dependency inversion is to couple to something abstract rather than concrete.” (</a:t>
                      </a:r>
                      <a:r>
                        <a:rPr lang="en-GB" sz="1200" b="0" i="0" kern="1200" dirty="0" err="1">
                          <a:solidFill>
                            <a:schemeClr val="dk1"/>
                          </a:solidFill>
                          <a:effectLst/>
                          <a:latin typeface="+mn-lt"/>
                          <a:ea typeface="+mn-ea"/>
                          <a:cs typeface="+mn-cs"/>
                        </a:rPr>
                        <a:t>Weisfeld</a:t>
                      </a:r>
                      <a:r>
                        <a:rPr lang="en-GB" sz="1200" b="0" i="0" kern="1200" dirty="0">
                          <a:solidFill>
                            <a:schemeClr val="dk1"/>
                          </a:solidFill>
                          <a:effectLst/>
                          <a:latin typeface="+mn-lt"/>
                          <a:ea typeface="+mn-ea"/>
                          <a:cs typeface="+mn-cs"/>
                        </a:rPr>
                        <a:t>, 2019)</a:t>
                      </a:r>
                      <a:endParaRPr lang="en-GB" sz="1200" i="0" dirty="0"/>
                    </a:p>
                  </a:txBody>
                  <a:tcPr/>
                </a:tc>
                <a:tc>
                  <a:txBody>
                    <a:bodyPr/>
                    <a:lstStyle/>
                    <a:p>
                      <a:r>
                        <a:rPr lang="en-GB" sz="1200" i="0" dirty="0" err="1"/>
                        <a:t>Astractions</a:t>
                      </a:r>
                      <a:r>
                        <a:rPr lang="en-GB" sz="1200" i="0" dirty="0"/>
                        <a:t> used for memory database and </a:t>
                      </a:r>
                      <a:r>
                        <a:rPr lang="en-GB" sz="1200" i="0" dirty="0" err="1"/>
                        <a:t>repositiories</a:t>
                      </a:r>
                      <a:r>
                        <a:rPr lang="en-GB" sz="1200" i="0" dirty="0"/>
                        <a:t> </a:t>
                      </a:r>
                    </a:p>
                  </a:txBody>
                  <a:tcPr/>
                </a:tc>
                <a:extLst>
                  <a:ext uri="{0D108BD9-81ED-4DB2-BD59-A6C34878D82A}">
                    <a16:rowId xmlns:a16="http://schemas.microsoft.com/office/drawing/2014/main" val="4090273897"/>
                  </a:ext>
                </a:extLst>
              </a:tr>
            </a:tbl>
          </a:graphicData>
        </a:graphic>
      </p:graphicFrame>
    </p:spTree>
    <p:extLst>
      <p:ext uri="{BB962C8B-B14F-4D97-AF65-F5344CB8AC3E}">
        <p14:creationId xmlns:p14="http://schemas.microsoft.com/office/powerpoint/2010/main" val="3969534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729BC-B701-A9C2-01C6-A3D2558F68E5}"/>
              </a:ext>
            </a:extLst>
          </p:cNvPr>
          <p:cNvSpPr>
            <a:spLocks noGrp="1"/>
          </p:cNvSpPr>
          <p:nvPr>
            <p:ph type="title"/>
          </p:nvPr>
        </p:nvSpPr>
        <p:spPr>
          <a:xfrm>
            <a:off x="36098" y="-356769"/>
            <a:ext cx="10515600" cy="1325563"/>
          </a:xfrm>
        </p:spPr>
        <p:txBody>
          <a:bodyPr/>
          <a:lstStyle/>
          <a:p>
            <a:r>
              <a:rPr lang="en-GB" dirty="0"/>
              <a:t>GRASP</a:t>
            </a:r>
          </a:p>
        </p:txBody>
      </p:sp>
      <p:graphicFrame>
        <p:nvGraphicFramePr>
          <p:cNvPr id="4" name="Table 4">
            <a:extLst>
              <a:ext uri="{FF2B5EF4-FFF2-40B4-BE49-F238E27FC236}">
                <a16:creationId xmlns:a16="http://schemas.microsoft.com/office/drawing/2014/main" id="{9AE87D1C-E8B1-9351-DA05-68A62DC3D440}"/>
              </a:ext>
            </a:extLst>
          </p:cNvPr>
          <p:cNvGraphicFramePr>
            <a:graphicFrameLocks noGrp="1"/>
          </p:cNvGraphicFramePr>
          <p:nvPr>
            <p:extLst>
              <p:ext uri="{D42A27DB-BD31-4B8C-83A1-F6EECF244321}">
                <p14:modId xmlns:p14="http://schemas.microsoft.com/office/powerpoint/2010/main" val="582419924"/>
              </p:ext>
            </p:extLst>
          </p:nvPr>
        </p:nvGraphicFramePr>
        <p:xfrm>
          <a:off x="261687" y="819358"/>
          <a:ext cx="11400924" cy="5696414"/>
        </p:xfrm>
        <a:graphic>
          <a:graphicData uri="http://schemas.openxmlformats.org/drawingml/2006/table">
            <a:tbl>
              <a:tblPr firstRow="1" bandRow="1">
                <a:tableStyleId>{5C22544A-7EE6-4342-B048-85BDC9FD1C3A}</a:tableStyleId>
              </a:tblPr>
              <a:tblGrid>
                <a:gridCol w="1399607">
                  <a:extLst>
                    <a:ext uri="{9D8B030D-6E8A-4147-A177-3AD203B41FA5}">
                      <a16:colId xmlns:a16="http://schemas.microsoft.com/office/drawing/2014/main" val="1412710371"/>
                    </a:ext>
                  </a:extLst>
                </a:gridCol>
                <a:gridCol w="2621948">
                  <a:extLst>
                    <a:ext uri="{9D8B030D-6E8A-4147-A177-3AD203B41FA5}">
                      <a16:colId xmlns:a16="http://schemas.microsoft.com/office/drawing/2014/main" val="915532207"/>
                    </a:ext>
                  </a:extLst>
                </a:gridCol>
                <a:gridCol w="4716379">
                  <a:extLst>
                    <a:ext uri="{9D8B030D-6E8A-4147-A177-3AD203B41FA5}">
                      <a16:colId xmlns:a16="http://schemas.microsoft.com/office/drawing/2014/main" val="3608372488"/>
                    </a:ext>
                  </a:extLst>
                </a:gridCol>
                <a:gridCol w="2662990">
                  <a:extLst>
                    <a:ext uri="{9D8B030D-6E8A-4147-A177-3AD203B41FA5}">
                      <a16:colId xmlns:a16="http://schemas.microsoft.com/office/drawing/2014/main" val="2150373006"/>
                    </a:ext>
                  </a:extLst>
                </a:gridCol>
              </a:tblGrid>
              <a:tr h="624371">
                <a:tc>
                  <a:txBody>
                    <a:bodyPr/>
                    <a:lstStyle/>
                    <a:p>
                      <a:r>
                        <a:rPr lang="en-GB" sz="1200" dirty="0"/>
                        <a:t>Principle</a:t>
                      </a:r>
                    </a:p>
                  </a:txBody>
                  <a:tcPr/>
                </a:tc>
                <a:tc>
                  <a:txBody>
                    <a:bodyPr/>
                    <a:lstStyle/>
                    <a:p>
                      <a:r>
                        <a:rPr lang="en-GB" sz="1200" dirty="0"/>
                        <a:t>Definition</a:t>
                      </a:r>
                    </a:p>
                  </a:txBody>
                  <a:tcPr/>
                </a:tc>
                <a:tc>
                  <a:txBody>
                    <a:bodyPr/>
                    <a:lstStyle/>
                    <a:p>
                      <a:r>
                        <a:rPr lang="en-GB" sz="1200" dirty="0"/>
                        <a:t>Reference</a:t>
                      </a:r>
                    </a:p>
                  </a:txBody>
                  <a:tcPr/>
                </a:tc>
                <a:tc>
                  <a:txBody>
                    <a:bodyPr/>
                    <a:lstStyle/>
                    <a:p>
                      <a:r>
                        <a:rPr lang="en-GB" sz="1200" dirty="0"/>
                        <a:t>Example</a:t>
                      </a:r>
                    </a:p>
                  </a:txBody>
                  <a:tcPr/>
                </a:tc>
                <a:extLst>
                  <a:ext uri="{0D108BD9-81ED-4DB2-BD59-A6C34878D82A}">
                    <a16:rowId xmlns:a16="http://schemas.microsoft.com/office/drawing/2014/main" val="1541507507"/>
                  </a:ext>
                </a:extLst>
              </a:tr>
              <a:tr h="867769">
                <a:tc>
                  <a:txBody>
                    <a:bodyPr/>
                    <a:lstStyle/>
                    <a:p>
                      <a:r>
                        <a:rPr lang="en-GB" sz="1200" dirty="0"/>
                        <a:t>Information Expert</a:t>
                      </a:r>
                    </a:p>
                  </a:txBody>
                  <a:tcPr/>
                </a:tc>
                <a:tc>
                  <a:txBody>
                    <a:bodyPr/>
                    <a:lstStyle/>
                    <a:p>
                      <a:r>
                        <a:rPr lang="en-GB" sz="1200" b="0" i="0" kern="1200" dirty="0">
                          <a:solidFill>
                            <a:schemeClr val="dk1"/>
                          </a:solidFill>
                          <a:effectLst/>
                          <a:latin typeface="+mn-lt"/>
                          <a:ea typeface="+mn-ea"/>
                          <a:cs typeface="+mn-cs"/>
                        </a:rPr>
                        <a:t>Assign a responsibility to the class that possesses the most relevant information and expertise required to </a:t>
                      </a:r>
                      <a:r>
                        <a:rPr lang="en-GB" sz="1200" b="0" i="0" kern="1200" dirty="0" err="1">
                          <a:solidFill>
                            <a:schemeClr val="dk1"/>
                          </a:solidFill>
                          <a:effectLst/>
                          <a:latin typeface="+mn-lt"/>
                          <a:ea typeface="+mn-ea"/>
                          <a:cs typeface="+mn-cs"/>
                        </a:rPr>
                        <a:t>fulfill</a:t>
                      </a:r>
                      <a:r>
                        <a:rPr lang="en-GB" sz="1200" b="0" i="0" kern="1200" dirty="0">
                          <a:solidFill>
                            <a:schemeClr val="dk1"/>
                          </a:solidFill>
                          <a:effectLst/>
                          <a:latin typeface="+mn-lt"/>
                          <a:ea typeface="+mn-ea"/>
                          <a:cs typeface="+mn-cs"/>
                        </a:rPr>
                        <a:t> that responsibility.</a:t>
                      </a:r>
                      <a:endParaRPr lang="en-GB" sz="1200" dirty="0"/>
                    </a:p>
                  </a:txBody>
                  <a:tcPr/>
                </a:tc>
                <a:tc>
                  <a:txBody>
                    <a:bodyPr/>
                    <a:lstStyle/>
                    <a:p>
                      <a:r>
                        <a:rPr lang="en-GB" sz="1200" dirty="0"/>
                        <a:t>" Assign a responsibility to the information expert—the class that has the information necessary to </a:t>
                      </a:r>
                      <a:r>
                        <a:rPr lang="en-GB" sz="1200" dirty="0" err="1"/>
                        <a:t>fulfill</a:t>
                      </a:r>
                      <a:r>
                        <a:rPr lang="en-GB" sz="1200" dirty="0"/>
                        <a:t> the responsibility.” (</a:t>
                      </a:r>
                      <a:r>
                        <a:rPr lang="en-GB" sz="1200" dirty="0" err="1"/>
                        <a:t>Larman</a:t>
                      </a:r>
                      <a:r>
                        <a:rPr lang="en-GB" sz="1200" dirty="0"/>
                        <a:t>, 2004) </a:t>
                      </a:r>
                    </a:p>
                    <a:p>
                      <a:endParaRPr lang="en-GB" sz="1200" dirty="0"/>
                    </a:p>
                    <a:p>
                      <a:endParaRPr lang="en-GB" sz="1200" dirty="0"/>
                    </a:p>
                  </a:txBody>
                  <a:tcPr/>
                </a:tc>
                <a:tc>
                  <a:txBody>
                    <a:bodyPr/>
                    <a:lstStyle/>
                    <a:p>
                      <a:r>
                        <a:rPr lang="en-GB" sz="1200" dirty="0" err="1"/>
                        <a:t>Decidated</a:t>
                      </a:r>
                      <a:r>
                        <a:rPr lang="en-GB" sz="1200" dirty="0"/>
                        <a:t> router, use case knowledge is held within  the controller, knowledge of repository is held by use case, validators know about models. </a:t>
                      </a:r>
                    </a:p>
                  </a:txBody>
                  <a:tcPr/>
                </a:tc>
                <a:extLst>
                  <a:ext uri="{0D108BD9-81ED-4DB2-BD59-A6C34878D82A}">
                    <a16:rowId xmlns:a16="http://schemas.microsoft.com/office/drawing/2014/main" val="3132019981"/>
                  </a:ext>
                </a:extLst>
              </a:tr>
              <a:tr h="821281">
                <a:tc>
                  <a:txBody>
                    <a:bodyPr/>
                    <a:lstStyle/>
                    <a:p>
                      <a:r>
                        <a:rPr lang="en-GB" sz="1200" dirty="0"/>
                        <a:t>Low Coupling</a:t>
                      </a:r>
                    </a:p>
                  </a:txBody>
                  <a:tcPr/>
                </a:tc>
                <a:tc>
                  <a:txBody>
                    <a:bodyPr/>
                    <a:lstStyle/>
                    <a:p>
                      <a:r>
                        <a:rPr lang="en-GB" sz="1200" b="0" i="0" kern="1200" dirty="0">
                          <a:solidFill>
                            <a:schemeClr val="dk1"/>
                          </a:solidFill>
                          <a:effectLst/>
                          <a:latin typeface="+mn-lt"/>
                          <a:ea typeface="+mn-ea"/>
                          <a:cs typeface="+mn-cs"/>
                        </a:rPr>
                        <a:t>Minimize the dependencies between classes to promote flexibility, reusability, and maintainability.</a:t>
                      </a:r>
                      <a:endParaRPr lang="en-GB" sz="1200" dirty="0"/>
                    </a:p>
                  </a:txBody>
                  <a:tcPr/>
                </a:tc>
                <a:tc>
                  <a:txBody>
                    <a:bodyPr/>
                    <a:lstStyle/>
                    <a:p>
                      <a:r>
                        <a:rPr lang="en-GB" sz="1200" dirty="0"/>
                        <a:t>“Assign responsibilities so that (unnecessary) coupling remains low. Use this principle to evaluate alternatives.”  (</a:t>
                      </a:r>
                      <a:r>
                        <a:rPr lang="en-GB" sz="1200" dirty="0" err="1"/>
                        <a:t>Larman</a:t>
                      </a:r>
                      <a:r>
                        <a:rPr lang="en-GB" sz="1200" dirty="0"/>
                        <a:t>, 2004) </a:t>
                      </a:r>
                    </a:p>
                  </a:txBody>
                  <a:tcPr/>
                </a:tc>
                <a:tc>
                  <a:txBody>
                    <a:bodyPr/>
                    <a:lstStyle/>
                    <a:p>
                      <a:r>
                        <a:rPr lang="en-GB" sz="1200" dirty="0"/>
                        <a:t>Repositories use cases  use interfaces</a:t>
                      </a:r>
                    </a:p>
                  </a:txBody>
                  <a:tcPr/>
                </a:tc>
                <a:extLst>
                  <a:ext uri="{0D108BD9-81ED-4DB2-BD59-A6C34878D82A}">
                    <a16:rowId xmlns:a16="http://schemas.microsoft.com/office/drawing/2014/main" val="2985506369"/>
                  </a:ext>
                </a:extLst>
              </a:tr>
              <a:tr h="991736">
                <a:tc>
                  <a:txBody>
                    <a:bodyPr/>
                    <a:lstStyle/>
                    <a:p>
                      <a:r>
                        <a:rPr lang="en-GB" sz="1200" dirty="0"/>
                        <a:t>High Cohesion</a:t>
                      </a:r>
                    </a:p>
                  </a:txBody>
                  <a:tcPr/>
                </a:tc>
                <a:tc>
                  <a:txBody>
                    <a:bodyPr/>
                    <a:lstStyle/>
                    <a:p>
                      <a:r>
                        <a:rPr lang="en-GB" sz="1200" b="0" i="0" kern="1200" dirty="0">
                          <a:solidFill>
                            <a:schemeClr val="dk1"/>
                          </a:solidFill>
                          <a:effectLst/>
                          <a:latin typeface="+mn-lt"/>
                          <a:ea typeface="+mn-ea"/>
                          <a:cs typeface="+mn-cs"/>
                        </a:rPr>
                        <a:t>Group together the responsibilities that are closely related to form cohesive classes, ensuring they have a single and well-defined purpose.</a:t>
                      </a:r>
                      <a:endParaRPr lang="en-GB" sz="1200" dirty="0"/>
                    </a:p>
                  </a:txBody>
                  <a:tcPr/>
                </a:tc>
                <a:tc>
                  <a:txBody>
                    <a:bodyPr/>
                    <a:lstStyle/>
                    <a:p>
                      <a:r>
                        <a:rPr lang="en-GB" sz="1200" dirty="0"/>
                        <a:t>“</a:t>
                      </a:r>
                      <a:r>
                        <a:rPr lang="en-GB" sz="1200" b="0" i="0" kern="1200" dirty="0">
                          <a:solidFill>
                            <a:schemeClr val="dk1"/>
                          </a:solidFill>
                          <a:effectLst/>
                          <a:latin typeface="+mn-lt"/>
                          <a:ea typeface="+mn-ea"/>
                          <a:cs typeface="+mn-cs"/>
                        </a:rPr>
                        <a:t>Assign responsibilities so that cohesion remains high. Use this to evaluate alternatives.” (</a:t>
                      </a:r>
                      <a:r>
                        <a:rPr lang="en-GB" sz="1200" b="0" i="0" kern="1200" dirty="0" err="1">
                          <a:solidFill>
                            <a:schemeClr val="dk1"/>
                          </a:solidFill>
                          <a:effectLst/>
                          <a:latin typeface="+mn-lt"/>
                          <a:ea typeface="+mn-ea"/>
                          <a:cs typeface="+mn-cs"/>
                        </a:rPr>
                        <a:t>Larman</a:t>
                      </a:r>
                      <a:r>
                        <a:rPr lang="en-GB" sz="1200" b="0" i="0" kern="1200" dirty="0">
                          <a:solidFill>
                            <a:schemeClr val="dk1"/>
                          </a:solidFill>
                          <a:effectLst/>
                          <a:latin typeface="+mn-lt"/>
                          <a:ea typeface="+mn-ea"/>
                          <a:cs typeface="+mn-cs"/>
                        </a:rPr>
                        <a:t>, 2004) </a:t>
                      </a:r>
                      <a:endParaRPr lang="en-GB" sz="1200" dirty="0"/>
                    </a:p>
                  </a:txBody>
                  <a:tcPr/>
                </a:tc>
                <a:tc>
                  <a:txBody>
                    <a:bodyPr/>
                    <a:lstStyle/>
                    <a:p>
                      <a:r>
                        <a:rPr lang="en-GB" sz="1200" dirty="0"/>
                        <a:t>Use case classes are responsible for the creation of models such as skills</a:t>
                      </a:r>
                    </a:p>
                  </a:txBody>
                  <a:tcPr/>
                </a:tc>
                <a:extLst>
                  <a:ext uri="{0D108BD9-81ED-4DB2-BD59-A6C34878D82A}">
                    <a16:rowId xmlns:a16="http://schemas.microsoft.com/office/drawing/2014/main" val="585996648"/>
                  </a:ext>
                </a:extLst>
              </a:tr>
              <a:tr h="1348141">
                <a:tc>
                  <a:txBody>
                    <a:bodyPr/>
                    <a:lstStyle/>
                    <a:p>
                      <a:r>
                        <a:rPr lang="en-GB" sz="1200" dirty="0"/>
                        <a:t>Creator</a:t>
                      </a:r>
                    </a:p>
                  </a:txBody>
                  <a:tcPr/>
                </a:tc>
                <a:tc>
                  <a:txBody>
                    <a:bodyPr/>
                    <a:lstStyle/>
                    <a:p>
                      <a:r>
                        <a:rPr lang="en-GB" sz="1200" b="0" i="0" kern="1200" dirty="0">
                          <a:solidFill>
                            <a:schemeClr val="dk1"/>
                          </a:solidFill>
                          <a:effectLst/>
                          <a:latin typeface="+mn-lt"/>
                          <a:ea typeface="+mn-ea"/>
                          <a:cs typeface="+mn-cs"/>
                        </a:rPr>
                        <a:t>Assign the responsibility of creating objects to classes that have the necessary information and expertise to do so.</a:t>
                      </a:r>
                      <a:endParaRPr lang="en-GB" sz="1200" dirty="0"/>
                    </a:p>
                  </a:txBody>
                  <a:tcPr/>
                </a:tc>
                <a:tc>
                  <a:txBody>
                    <a:bodyPr/>
                    <a:lstStyle/>
                    <a:p>
                      <a:r>
                        <a:rPr lang="en-GB" sz="1200" dirty="0"/>
                        <a:t>“Assign class B the responsibility to create an instance of class A if one of these is true:</a:t>
                      </a:r>
                    </a:p>
                    <a:p>
                      <a:r>
                        <a:rPr lang="en-GB" sz="1200" dirty="0"/>
                        <a:t>1. B contains A</a:t>
                      </a:r>
                    </a:p>
                    <a:p>
                      <a:r>
                        <a:rPr lang="en-GB" sz="1200" dirty="0"/>
                        <a:t>4. B records A</a:t>
                      </a:r>
                    </a:p>
                    <a:p>
                      <a:r>
                        <a:rPr lang="en-GB" sz="1200" dirty="0"/>
                        <a:t>2. B aggregates A</a:t>
                      </a:r>
                    </a:p>
                    <a:p>
                      <a:r>
                        <a:rPr lang="en-GB" sz="1200" dirty="0"/>
                        <a:t>5. B closely uses A</a:t>
                      </a:r>
                    </a:p>
                    <a:p>
                      <a:r>
                        <a:rPr lang="en-GB" sz="1200" dirty="0"/>
                        <a:t>3. B has the initializing data for A” (</a:t>
                      </a:r>
                      <a:r>
                        <a:rPr lang="en-GB" sz="1200" dirty="0" err="1"/>
                        <a:t>Larman</a:t>
                      </a:r>
                      <a:r>
                        <a:rPr lang="en-GB" sz="1200" dirty="0"/>
                        <a:t>, 2004)</a:t>
                      </a:r>
                    </a:p>
                    <a:p>
                      <a:endParaRPr lang="en-GB" sz="1200" dirty="0"/>
                    </a:p>
                  </a:txBody>
                  <a:tcPr/>
                </a:tc>
                <a:tc>
                  <a:txBody>
                    <a:bodyPr/>
                    <a:lstStyle/>
                    <a:p>
                      <a:r>
                        <a:rPr lang="en-GB" sz="1200" dirty="0"/>
                        <a:t>Use cases such as </a:t>
                      </a:r>
                      <a:r>
                        <a:rPr lang="en-GB" sz="1200" dirty="0" err="1"/>
                        <a:t>AddNewSkill</a:t>
                      </a:r>
                      <a:r>
                        <a:rPr lang="en-GB" sz="1200" dirty="0"/>
                        <a:t> </a:t>
                      </a:r>
                    </a:p>
                  </a:txBody>
                  <a:tcPr/>
                </a:tc>
                <a:extLst>
                  <a:ext uri="{0D108BD9-81ED-4DB2-BD59-A6C34878D82A}">
                    <a16:rowId xmlns:a16="http://schemas.microsoft.com/office/drawing/2014/main" val="1300552599"/>
                  </a:ext>
                </a:extLst>
              </a:tr>
              <a:tr h="836777">
                <a:tc>
                  <a:txBody>
                    <a:bodyPr/>
                    <a:lstStyle/>
                    <a:p>
                      <a:r>
                        <a:rPr lang="en-GB" sz="1200" dirty="0"/>
                        <a:t>Indirection</a:t>
                      </a:r>
                    </a:p>
                  </a:txBody>
                  <a:tcPr/>
                </a:tc>
                <a:tc>
                  <a:txBody>
                    <a:bodyPr/>
                    <a:lstStyle/>
                    <a:p>
                      <a:r>
                        <a:rPr lang="en-GB" sz="1200" b="0" i="0" kern="1200" dirty="0">
                          <a:solidFill>
                            <a:schemeClr val="dk1"/>
                          </a:solidFill>
                          <a:effectLst/>
                          <a:latin typeface="+mn-lt"/>
                          <a:ea typeface="+mn-ea"/>
                          <a:cs typeface="+mn-cs"/>
                        </a:rPr>
                        <a:t>Introduce an intermediate object or interface to decouple and mediate between two classes to reduce direct dependencies.</a:t>
                      </a:r>
                      <a:endParaRPr lang="en-GB" sz="1200" dirty="0"/>
                    </a:p>
                  </a:txBody>
                  <a:tcPr/>
                </a:tc>
                <a:tc>
                  <a:txBody>
                    <a:bodyPr/>
                    <a:lstStyle/>
                    <a:p>
                      <a:r>
                        <a:rPr lang="en-GB" sz="1200" dirty="0"/>
                        <a:t>“</a:t>
                      </a:r>
                      <a:r>
                        <a:rPr lang="en-GB" sz="1200" b="0" i="0" kern="1200" dirty="0">
                          <a:solidFill>
                            <a:schemeClr val="dk1"/>
                          </a:solidFill>
                          <a:effectLst/>
                          <a:latin typeface="+mn-lt"/>
                          <a:ea typeface="+mn-ea"/>
                          <a:cs typeface="+mn-cs"/>
                        </a:rPr>
                        <a:t>Assign the responsibility to an intermediate object to mediate between other components or services, so that they are not directly coupled.” (</a:t>
                      </a:r>
                      <a:r>
                        <a:rPr lang="en-GB" sz="1200" b="0" i="0" kern="1200" dirty="0" err="1">
                          <a:solidFill>
                            <a:schemeClr val="dk1"/>
                          </a:solidFill>
                          <a:effectLst/>
                          <a:latin typeface="+mn-lt"/>
                          <a:ea typeface="+mn-ea"/>
                          <a:cs typeface="+mn-cs"/>
                        </a:rPr>
                        <a:t>Larman</a:t>
                      </a:r>
                      <a:r>
                        <a:rPr lang="en-GB" sz="1200" b="0" i="0" kern="1200" dirty="0">
                          <a:solidFill>
                            <a:schemeClr val="dk1"/>
                          </a:solidFill>
                          <a:effectLst/>
                          <a:latin typeface="+mn-lt"/>
                          <a:ea typeface="+mn-ea"/>
                          <a:cs typeface="+mn-cs"/>
                        </a:rPr>
                        <a:t>, 2004) </a:t>
                      </a:r>
                      <a:endParaRPr lang="en-GB" sz="1200" dirty="0"/>
                    </a:p>
                  </a:txBody>
                  <a:tcPr/>
                </a:tc>
                <a:tc>
                  <a:txBody>
                    <a:bodyPr/>
                    <a:lstStyle/>
                    <a:p>
                      <a:r>
                        <a:rPr lang="en-GB" sz="1200" dirty="0"/>
                        <a:t>Using interfaces when interacting with the repositories in the use cases </a:t>
                      </a:r>
                    </a:p>
                  </a:txBody>
                  <a:tcPr/>
                </a:tc>
                <a:extLst>
                  <a:ext uri="{0D108BD9-81ED-4DB2-BD59-A6C34878D82A}">
                    <a16:rowId xmlns:a16="http://schemas.microsoft.com/office/drawing/2014/main" val="1454674985"/>
                  </a:ext>
                </a:extLst>
              </a:tr>
            </a:tbl>
          </a:graphicData>
        </a:graphic>
      </p:graphicFrame>
    </p:spTree>
    <p:extLst>
      <p:ext uri="{BB962C8B-B14F-4D97-AF65-F5344CB8AC3E}">
        <p14:creationId xmlns:p14="http://schemas.microsoft.com/office/powerpoint/2010/main" val="2758625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04F02-5471-2FE0-5D22-575006605007}"/>
              </a:ext>
            </a:extLst>
          </p:cNvPr>
          <p:cNvSpPr>
            <a:spLocks noGrp="1"/>
          </p:cNvSpPr>
          <p:nvPr>
            <p:ph type="title"/>
          </p:nvPr>
        </p:nvSpPr>
        <p:spPr/>
        <p:txBody>
          <a:bodyPr/>
          <a:lstStyle/>
          <a:p>
            <a:r>
              <a:rPr lang="en-GB" dirty="0"/>
              <a:t>Grasp cont. </a:t>
            </a:r>
          </a:p>
        </p:txBody>
      </p:sp>
      <p:graphicFrame>
        <p:nvGraphicFramePr>
          <p:cNvPr id="4" name="Table 4">
            <a:extLst>
              <a:ext uri="{FF2B5EF4-FFF2-40B4-BE49-F238E27FC236}">
                <a16:creationId xmlns:a16="http://schemas.microsoft.com/office/drawing/2014/main" id="{5E3CB1EE-3DDE-C278-01C4-C9C775982F1F}"/>
              </a:ext>
            </a:extLst>
          </p:cNvPr>
          <p:cNvGraphicFramePr>
            <a:graphicFrameLocks noGrp="1"/>
          </p:cNvGraphicFramePr>
          <p:nvPr>
            <p:ph idx="1"/>
            <p:extLst>
              <p:ext uri="{D42A27DB-BD31-4B8C-83A1-F6EECF244321}">
                <p14:modId xmlns:p14="http://schemas.microsoft.com/office/powerpoint/2010/main" val="3759057537"/>
              </p:ext>
            </p:extLst>
          </p:nvPr>
        </p:nvGraphicFramePr>
        <p:xfrm>
          <a:off x="838200" y="1408530"/>
          <a:ext cx="10515600" cy="4942840"/>
        </p:xfrm>
        <a:graphic>
          <a:graphicData uri="http://schemas.openxmlformats.org/drawingml/2006/table">
            <a:tbl>
              <a:tblPr firstRow="1" bandRow="1">
                <a:tableStyleId>{5C22544A-7EE6-4342-B048-85BDC9FD1C3A}</a:tableStyleId>
              </a:tblPr>
              <a:tblGrid>
                <a:gridCol w="1872916">
                  <a:extLst>
                    <a:ext uri="{9D8B030D-6E8A-4147-A177-3AD203B41FA5}">
                      <a16:colId xmlns:a16="http://schemas.microsoft.com/office/drawing/2014/main" val="927494621"/>
                    </a:ext>
                  </a:extLst>
                </a:gridCol>
                <a:gridCol w="3384884">
                  <a:extLst>
                    <a:ext uri="{9D8B030D-6E8A-4147-A177-3AD203B41FA5}">
                      <a16:colId xmlns:a16="http://schemas.microsoft.com/office/drawing/2014/main" val="473984814"/>
                    </a:ext>
                  </a:extLst>
                </a:gridCol>
                <a:gridCol w="3272589">
                  <a:extLst>
                    <a:ext uri="{9D8B030D-6E8A-4147-A177-3AD203B41FA5}">
                      <a16:colId xmlns:a16="http://schemas.microsoft.com/office/drawing/2014/main" val="2121314423"/>
                    </a:ext>
                  </a:extLst>
                </a:gridCol>
                <a:gridCol w="1985211">
                  <a:extLst>
                    <a:ext uri="{9D8B030D-6E8A-4147-A177-3AD203B41FA5}">
                      <a16:colId xmlns:a16="http://schemas.microsoft.com/office/drawing/2014/main" val="3455144178"/>
                    </a:ext>
                  </a:extLst>
                </a:gridCol>
              </a:tblGrid>
              <a:tr h="370840">
                <a:tc>
                  <a:txBody>
                    <a:bodyPr/>
                    <a:lstStyle/>
                    <a:p>
                      <a:r>
                        <a:rPr lang="en-GB" sz="1200" dirty="0"/>
                        <a:t>Principle</a:t>
                      </a:r>
                    </a:p>
                  </a:txBody>
                  <a:tcPr/>
                </a:tc>
                <a:tc>
                  <a:txBody>
                    <a:bodyPr/>
                    <a:lstStyle/>
                    <a:p>
                      <a:r>
                        <a:rPr lang="en-GB" sz="1200" dirty="0"/>
                        <a:t>Definition</a:t>
                      </a:r>
                    </a:p>
                  </a:txBody>
                  <a:tcPr/>
                </a:tc>
                <a:tc>
                  <a:txBody>
                    <a:bodyPr/>
                    <a:lstStyle/>
                    <a:p>
                      <a:r>
                        <a:rPr lang="en-GB" sz="1200" dirty="0"/>
                        <a:t>Reference</a:t>
                      </a:r>
                    </a:p>
                  </a:txBody>
                  <a:tcPr/>
                </a:tc>
                <a:tc>
                  <a:txBody>
                    <a:bodyPr/>
                    <a:lstStyle/>
                    <a:p>
                      <a:r>
                        <a:rPr lang="en-GB" sz="1200" dirty="0"/>
                        <a:t>Example</a:t>
                      </a:r>
                    </a:p>
                  </a:txBody>
                  <a:tcPr/>
                </a:tc>
                <a:extLst>
                  <a:ext uri="{0D108BD9-81ED-4DB2-BD59-A6C34878D82A}">
                    <a16:rowId xmlns:a16="http://schemas.microsoft.com/office/drawing/2014/main" val="2632274586"/>
                  </a:ext>
                </a:extLst>
              </a:tr>
              <a:tr h="370840">
                <a:tc>
                  <a:txBody>
                    <a:bodyPr/>
                    <a:lstStyle/>
                    <a:p>
                      <a:r>
                        <a:rPr lang="en-GB" sz="1200" dirty="0"/>
                        <a:t>Polymorphism</a:t>
                      </a:r>
                    </a:p>
                  </a:txBody>
                  <a:tcPr/>
                </a:tc>
                <a:tc>
                  <a:txBody>
                    <a:bodyPr/>
                    <a:lstStyle/>
                    <a:p>
                      <a:r>
                        <a:rPr lang="en-GB" sz="1200" b="0" i="0" kern="1200" dirty="0">
                          <a:solidFill>
                            <a:schemeClr val="dk1"/>
                          </a:solidFill>
                          <a:effectLst/>
                          <a:latin typeface="+mn-lt"/>
                          <a:ea typeface="+mn-ea"/>
                          <a:cs typeface="+mn-cs"/>
                        </a:rPr>
                        <a:t>Utilize polymorphism to enable objects of different classes to be used interchangeably by clients through a common interface.</a:t>
                      </a:r>
                      <a:endParaRPr lang="en-GB" sz="1200" dirty="0"/>
                    </a:p>
                  </a:txBody>
                  <a:tcPr/>
                </a:tc>
                <a:tc>
                  <a:txBody>
                    <a:bodyPr/>
                    <a:lstStyle/>
                    <a:p>
                      <a:r>
                        <a:rPr lang="en-GB" sz="1200" dirty="0"/>
                        <a:t>“</a:t>
                      </a:r>
                      <a:r>
                        <a:rPr lang="en-GB" sz="1200" b="0" i="0" kern="1200" dirty="0">
                          <a:solidFill>
                            <a:schemeClr val="dk1"/>
                          </a:solidFill>
                          <a:effectLst/>
                          <a:latin typeface="+mn-lt"/>
                          <a:ea typeface="+mn-ea"/>
                          <a:cs typeface="+mn-cs"/>
                        </a:rPr>
                        <a:t>When related alternatives or </a:t>
                      </a:r>
                      <a:r>
                        <a:rPr lang="en-GB" sz="1200" b="0" i="0" kern="1200" dirty="0" err="1">
                          <a:solidFill>
                            <a:schemeClr val="dk1"/>
                          </a:solidFill>
                          <a:effectLst/>
                          <a:latin typeface="+mn-lt"/>
                          <a:ea typeface="+mn-ea"/>
                          <a:cs typeface="+mn-cs"/>
                        </a:rPr>
                        <a:t>behaviors</a:t>
                      </a:r>
                      <a:r>
                        <a:rPr lang="en-GB" sz="1200" b="0" i="0" kern="1200" dirty="0">
                          <a:solidFill>
                            <a:schemeClr val="dk1"/>
                          </a:solidFill>
                          <a:effectLst/>
                          <a:latin typeface="+mn-lt"/>
                          <a:ea typeface="+mn-ea"/>
                          <a:cs typeface="+mn-cs"/>
                        </a:rPr>
                        <a:t> vary by type (class), assign responsibility for the </a:t>
                      </a:r>
                      <a:r>
                        <a:rPr lang="en-GB" sz="1200" b="0" i="0" kern="1200" dirty="0" err="1">
                          <a:solidFill>
                            <a:schemeClr val="dk1"/>
                          </a:solidFill>
                          <a:effectLst/>
                          <a:latin typeface="+mn-lt"/>
                          <a:ea typeface="+mn-ea"/>
                          <a:cs typeface="+mn-cs"/>
                        </a:rPr>
                        <a:t>behavior</a:t>
                      </a:r>
                      <a:r>
                        <a:rPr lang="en-GB" sz="1200" b="0" i="0" kern="1200" dirty="0">
                          <a:solidFill>
                            <a:schemeClr val="dk1"/>
                          </a:solidFill>
                          <a:effectLst/>
                          <a:latin typeface="+mn-lt"/>
                          <a:ea typeface="+mn-ea"/>
                          <a:cs typeface="+mn-cs"/>
                        </a:rPr>
                        <a:t>—using polymorphic operations—to the types for which the </a:t>
                      </a:r>
                      <a:r>
                        <a:rPr lang="en-GB" sz="1200" b="0" i="0" kern="1200" dirty="0" err="1">
                          <a:solidFill>
                            <a:schemeClr val="dk1"/>
                          </a:solidFill>
                          <a:effectLst/>
                          <a:latin typeface="+mn-lt"/>
                          <a:ea typeface="+mn-ea"/>
                          <a:cs typeface="+mn-cs"/>
                        </a:rPr>
                        <a:t>behavior</a:t>
                      </a:r>
                      <a:r>
                        <a:rPr lang="en-GB" sz="1200" b="0" i="0" kern="1200" dirty="0">
                          <a:solidFill>
                            <a:schemeClr val="dk1"/>
                          </a:solidFill>
                          <a:effectLst/>
                          <a:latin typeface="+mn-lt"/>
                          <a:ea typeface="+mn-ea"/>
                          <a:cs typeface="+mn-cs"/>
                        </a:rPr>
                        <a:t> varies.” (</a:t>
                      </a:r>
                      <a:r>
                        <a:rPr lang="en-GB" sz="1200" b="0" i="0" kern="1200" dirty="0" err="1">
                          <a:solidFill>
                            <a:schemeClr val="dk1"/>
                          </a:solidFill>
                          <a:effectLst/>
                          <a:latin typeface="+mn-lt"/>
                          <a:ea typeface="+mn-ea"/>
                          <a:cs typeface="+mn-cs"/>
                        </a:rPr>
                        <a:t>Larman</a:t>
                      </a:r>
                      <a:r>
                        <a:rPr lang="en-GB" sz="1200" b="0" i="0" kern="1200" dirty="0">
                          <a:solidFill>
                            <a:schemeClr val="dk1"/>
                          </a:solidFill>
                          <a:effectLst/>
                          <a:latin typeface="+mn-lt"/>
                          <a:ea typeface="+mn-ea"/>
                          <a:cs typeface="+mn-cs"/>
                        </a:rPr>
                        <a:t>, 2004)</a:t>
                      </a:r>
                      <a:endParaRPr lang="en-GB" sz="1200" dirty="0"/>
                    </a:p>
                  </a:txBody>
                  <a:tcPr/>
                </a:tc>
                <a:tc>
                  <a:txBody>
                    <a:bodyPr/>
                    <a:lstStyle/>
                    <a:p>
                      <a:r>
                        <a:rPr lang="en-GB" sz="1200" dirty="0" err="1"/>
                        <a:t>BaseModuleRepository</a:t>
                      </a:r>
                      <a:r>
                        <a:rPr lang="en-GB" sz="1200" dirty="0"/>
                        <a:t> interface</a:t>
                      </a:r>
                    </a:p>
                  </a:txBody>
                  <a:tcPr/>
                </a:tc>
                <a:extLst>
                  <a:ext uri="{0D108BD9-81ED-4DB2-BD59-A6C34878D82A}">
                    <a16:rowId xmlns:a16="http://schemas.microsoft.com/office/drawing/2014/main" val="4137370591"/>
                  </a:ext>
                </a:extLst>
              </a:tr>
              <a:tr h="370840">
                <a:tc>
                  <a:txBody>
                    <a:bodyPr/>
                    <a:lstStyle/>
                    <a:p>
                      <a:r>
                        <a:rPr lang="en-GB" sz="1200" dirty="0"/>
                        <a:t>Pure Fabrication</a:t>
                      </a:r>
                    </a:p>
                  </a:txBody>
                  <a:tcPr/>
                </a:tc>
                <a:tc>
                  <a:txBody>
                    <a:bodyPr/>
                    <a:lstStyle/>
                    <a:p>
                      <a:r>
                        <a:rPr lang="en-GB" sz="1200" b="0" i="0" kern="1200" dirty="0">
                          <a:solidFill>
                            <a:schemeClr val="dk1"/>
                          </a:solidFill>
                          <a:effectLst/>
                          <a:latin typeface="+mn-lt"/>
                          <a:ea typeface="+mn-ea"/>
                          <a:cs typeface="+mn-cs"/>
                        </a:rPr>
                        <a:t>Create classes that don't represent real-world concepts but provide necessary functionality to improve overall system design.</a:t>
                      </a:r>
                      <a:endParaRPr lang="en-GB" sz="1200" dirty="0"/>
                    </a:p>
                  </a:txBody>
                  <a:tcPr/>
                </a:tc>
                <a:tc>
                  <a:txBody>
                    <a:bodyPr/>
                    <a:lstStyle/>
                    <a:p>
                      <a:r>
                        <a:rPr lang="en-GB" sz="1200" dirty="0"/>
                        <a:t>“</a:t>
                      </a:r>
                      <a:r>
                        <a:rPr lang="en-GB" sz="1200" b="0" i="0" kern="1200" dirty="0">
                          <a:solidFill>
                            <a:schemeClr val="dk1"/>
                          </a:solidFill>
                          <a:effectLst/>
                          <a:latin typeface="+mn-lt"/>
                          <a:ea typeface="+mn-ea"/>
                          <a:cs typeface="+mn-cs"/>
                        </a:rPr>
                        <a:t>Assign a highly cohesive set of responsibilities to an artificial or convenience “</a:t>
                      </a:r>
                      <a:r>
                        <a:rPr lang="en-GB" sz="1200" b="0" i="0" kern="1200" dirty="0" err="1">
                          <a:solidFill>
                            <a:schemeClr val="dk1"/>
                          </a:solidFill>
                          <a:effectLst/>
                          <a:latin typeface="+mn-lt"/>
                          <a:ea typeface="+mn-ea"/>
                          <a:cs typeface="+mn-cs"/>
                        </a:rPr>
                        <a:t>behavior</a:t>
                      </a:r>
                      <a:r>
                        <a:rPr lang="en-GB" sz="1200" b="0" i="0" kern="1200" dirty="0">
                          <a:solidFill>
                            <a:schemeClr val="dk1"/>
                          </a:solidFill>
                          <a:effectLst/>
                          <a:latin typeface="+mn-lt"/>
                          <a:ea typeface="+mn-ea"/>
                          <a:cs typeface="+mn-cs"/>
                        </a:rPr>
                        <a:t>” class that does not represent a problem domain concept—something made up, in order to support high cohesion, low coupling, and reuse.” (</a:t>
                      </a:r>
                      <a:r>
                        <a:rPr lang="en-GB" sz="1200" b="0" i="0" kern="1200" dirty="0" err="1">
                          <a:solidFill>
                            <a:schemeClr val="dk1"/>
                          </a:solidFill>
                          <a:effectLst/>
                          <a:latin typeface="+mn-lt"/>
                          <a:ea typeface="+mn-ea"/>
                          <a:cs typeface="+mn-cs"/>
                        </a:rPr>
                        <a:t>Larman</a:t>
                      </a:r>
                      <a:r>
                        <a:rPr lang="en-GB" sz="1200" b="0" i="0" kern="1200" dirty="0">
                          <a:solidFill>
                            <a:schemeClr val="dk1"/>
                          </a:solidFill>
                          <a:effectLst/>
                          <a:latin typeface="+mn-lt"/>
                          <a:ea typeface="+mn-ea"/>
                          <a:cs typeface="+mn-cs"/>
                        </a:rPr>
                        <a:t>, 2004) </a:t>
                      </a:r>
                      <a:endParaRPr lang="en-GB" sz="1200" dirty="0"/>
                    </a:p>
                  </a:txBody>
                  <a:tcPr/>
                </a:tc>
                <a:tc>
                  <a:txBody>
                    <a:bodyPr/>
                    <a:lstStyle/>
                    <a:p>
                      <a:r>
                        <a:rPr lang="en-GB" sz="1200" dirty="0"/>
                        <a:t>Use cases, repositories, </a:t>
                      </a:r>
                      <a:r>
                        <a:rPr lang="en-GB" sz="1200" dirty="0" err="1"/>
                        <a:t>IOC_Controller</a:t>
                      </a:r>
                      <a:r>
                        <a:rPr lang="en-GB" sz="1200" dirty="0"/>
                        <a:t> </a:t>
                      </a:r>
                    </a:p>
                  </a:txBody>
                  <a:tcPr/>
                </a:tc>
                <a:extLst>
                  <a:ext uri="{0D108BD9-81ED-4DB2-BD59-A6C34878D82A}">
                    <a16:rowId xmlns:a16="http://schemas.microsoft.com/office/drawing/2014/main" val="3663437776"/>
                  </a:ext>
                </a:extLst>
              </a:tr>
              <a:tr h="370840">
                <a:tc>
                  <a:txBody>
                    <a:bodyPr/>
                    <a:lstStyle/>
                    <a:p>
                      <a:r>
                        <a:rPr lang="en-GB" sz="1200" dirty="0"/>
                        <a:t>Protected Variations</a:t>
                      </a:r>
                    </a:p>
                  </a:txBody>
                  <a:tcPr/>
                </a:tc>
                <a:tc>
                  <a:txBody>
                    <a:bodyPr/>
                    <a:lstStyle/>
                    <a:p>
                      <a:r>
                        <a:rPr lang="en-GB" sz="1200" b="0" i="0" kern="1200" dirty="0">
                          <a:solidFill>
                            <a:schemeClr val="dk1"/>
                          </a:solidFill>
                          <a:effectLst/>
                          <a:latin typeface="+mn-lt"/>
                          <a:ea typeface="+mn-ea"/>
                          <a:cs typeface="+mn-cs"/>
                        </a:rPr>
                        <a:t>Identify and encapsulate the parts of the system that are most likely to change, allowing for future modifications with minimal impact.</a:t>
                      </a:r>
                      <a:endParaRPr lang="en-GB" sz="1200" dirty="0"/>
                    </a:p>
                  </a:txBody>
                  <a:tcPr/>
                </a:tc>
                <a:tc>
                  <a:txBody>
                    <a:bodyPr/>
                    <a:lstStyle/>
                    <a:p>
                      <a:r>
                        <a:rPr lang="en-GB" sz="1200" dirty="0"/>
                        <a:t>“</a:t>
                      </a:r>
                      <a:r>
                        <a:rPr lang="en-GB" sz="1200" b="0" i="0" kern="1200" dirty="0">
                          <a:solidFill>
                            <a:schemeClr val="dk1"/>
                          </a:solidFill>
                          <a:effectLst/>
                          <a:latin typeface="+mn-lt"/>
                          <a:ea typeface="+mn-ea"/>
                          <a:cs typeface="+mn-cs"/>
                        </a:rPr>
                        <a:t>Identify points of predicted variation or instability; assign responsibilities to create a stable “interface” around them.” (</a:t>
                      </a:r>
                      <a:r>
                        <a:rPr lang="en-GB" sz="1200" b="0" i="0" kern="1200" dirty="0" err="1">
                          <a:solidFill>
                            <a:schemeClr val="dk1"/>
                          </a:solidFill>
                          <a:effectLst/>
                          <a:latin typeface="+mn-lt"/>
                          <a:ea typeface="+mn-ea"/>
                          <a:cs typeface="+mn-cs"/>
                        </a:rPr>
                        <a:t>Larman</a:t>
                      </a:r>
                      <a:r>
                        <a:rPr lang="en-GB" sz="1200" b="0" i="0" kern="1200" dirty="0">
                          <a:solidFill>
                            <a:schemeClr val="dk1"/>
                          </a:solidFill>
                          <a:effectLst/>
                          <a:latin typeface="+mn-lt"/>
                          <a:ea typeface="+mn-ea"/>
                          <a:cs typeface="+mn-cs"/>
                        </a:rPr>
                        <a:t>, 2004) </a:t>
                      </a:r>
                      <a:endParaRPr lang="en-GB" sz="1200" dirty="0"/>
                    </a:p>
                  </a:txBody>
                  <a:tcPr/>
                </a:tc>
                <a:tc>
                  <a:txBody>
                    <a:bodyPr/>
                    <a:lstStyle/>
                    <a:p>
                      <a:r>
                        <a:rPr lang="en-GB" sz="1200" dirty="0"/>
                        <a:t>Use cases and repositories </a:t>
                      </a:r>
                    </a:p>
                  </a:txBody>
                  <a:tcPr/>
                </a:tc>
                <a:extLst>
                  <a:ext uri="{0D108BD9-81ED-4DB2-BD59-A6C34878D82A}">
                    <a16:rowId xmlns:a16="http://schemas.microsoft.com/office/drawing/2014/main" val="225008862"/>
                  </a:ext>
                </a:extLst>
              </a:tr>
              <a:tr h="370840">
                <a:tc>
                  <a:txBody>
                    <a:bodyPr/>
                    <a:lstStyle/>
                    <a:p>
                      <a:r>
                        <a:rPr lang="en-GB" sz="1200" dirty="0"/>
                        <a:t>Controller</a:t>
                      </a:r>
                    </a:p>
                  </a:txBody>
                  <a:tcPr/>
                </a:tc>
                <a:tc>
                  <a:txBody>
                    <a:bodyPr/>
                    <a:lstStyle/>
                    <a:p>
                      <a:r>
                        <a:rPr lang="en-GB" sz="1200" b="0" i="0" kern="1200" dirty="0">
                          <a:solidFill>
                            <a:schemeClr val="dk1"/>
                          </a:solidFill>
                          <a:effectLst/>
                          <a:latin typeface="+mn-lt"/>
                          <a:ea typeface="+mn-ea"/>
                          <a:cs typeface="+mn-cs"/>
                        </a:rPr>
                        <a:t>Assign the responsibility of coordinating and controlling the flow of operations to a class that manages the overall system </a:t>
                      </a:r>
                      <a:r>
                        <a:rPr lang="en-GB" sz="1200" b="0" i="0" kern="1200" dirty="0" err="1">
                          <a:solidFill>
                            <a:schemeClr val="dk1"/>
                          </a:solidFill>
                          <a:effectLst/>
                          <a:latin typeface="+mn-lt"/>
                          <a:ea typeface="+mn-ea"/>
                          <a:cs typeface="+mn-cs"/>
                        </a:rPr>
                        <a:t>behavior</a:t>
                      </a:r>
                      <a:r>
                        <a:rPr lang="en-GB" sz="1200" b="0" i="0" kern="1200" dirty="0">
                          <a:solidFill>
                            <a:schemeClr val="dk1"/>
                          </a:solidFill>
                          <a:effectLst/>
                          <a:latin typeface="+mn-lt"/>
                          <a:ea typeface="+mn-ea"/>
                          <a:cs typeface="+mn-cs"/>
                        </a:rPr>
                        <a:t>.</a:t>
                      </a:r>
                      <a:endParaRPr lang="en-GB" sz="1200" dirty="0"/>
                    </a:p>
                  </a:txBody>
                  <a:tcPr/>
                </a:tc>
                <a:tc>
                  <a:txBody>
                    <a:bodyPr/>
                    <a:lstStyle/>
                    <a:p>
                      <a:r>
                        <a:rPr lang="en-GB" sz="1200" dirty="0"/>
                        <a:t>“Assign the responsibility to an object representing one of these choices:</a:t>
                      </a:r>
                    </a:p>
                    <a:p>
                      <a:r>
                        <a:rPr lang="en-GB" sz="1200" dirty="0"/>
                        <a:t>Represents the overall “system,” a “root object,” a device that the software is running within, or a major subsystem (these are all variations of a facade controller).</a:t>
                      </a:r>
                    </a:p>
                    <a:p>
                      <a:r>
                        <a:rPr lang="en-GB" sz="1200" dirty="0"/>
                        <a:t>Represents a use case scenario within which the system operation occurs (a use-case or session controller)” (</a:t>
                      </a:r>
                      <a:r>
                        <a:rPr lang="en-GB" sz="1200" dirty="0" err="1"/>
                        <a:t>Larman</a:t>
                      </a:r>
                      <a:r>
                        <a:rPr lang="en-GB" sz="1200" dirty="0"/>
                        <a:t>, 2004)</a:t>
                      </a:r>
                    </a:p>
                  </a:txBody>
                  <a:tcPr/>
                </a:tc>
                <a:tc>
                  <a:txBody>
                    <a:bodyPr/>
                    <a:lstStyle/>
                    <a:p>
                      <a:r>
                        <a:rPr lang="en-GB" sz="1200" dirty="0"/>
                        <a:t>FXML allows controllers to handle UI events </a:t>
                      </a:r>
                    </a:p>
                  </a:txBody>
                  <a:tcPr/>
                </a:tc>
                <a:extLst>
                  <a:ext uri="{0D108BD9-81ED-4DB2-BD59-A6C34878D82A}">
                    <a16:rowId xmlns:a16="http://schemas.microsoft.com/office/drawing/2014/main" val="1773712716"/>
                  </a:ext>
                </a:extLst>
              </a:tr>
            </a:tbl>
          </a:graphicData>
        </a:graphic>
      </p:graphicFrame>
    </p:spTree>
    <p:extLst>
      <p:ext uri="{BB962C8B-B14F-4D97-AF65-F5344CB8AC3E}">
        <p14:creationId xmlns:p14="http://schemas.microsoft.com/office/powerpoint/2010/main" val="28912439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DA081-4ACF-3200-F39C-0252900793CB}"/>
              </a:ext>
            </a:extLst>
          </p:cNvPr>
          <p:cNvSpPr>
            <a:spLocks noGrp="1"/>
          </p:cNvSpPr>
          <p:nvPr>
            <p:ph type="title"/>
          </p:nvPr>
        </p:nvSpPr>
        <p:spPr/>
        <p:txBody>
          <a:bodyPr/>
          <a:lstStyle/>
          <a:p>
            <a:r>
              <a:rPr lang="en-GB" dirty="0"/>
              <a:t>KSBs</a:t>
            </a:r>
          </a:p>
        </p:txBody>
      </p:sp>
      <p:graphicFrame>
        <p:nvGraphicFramePr>
          <p:cNvPr id="4" name="Table 4">
            <a:extLst>
              <a:ext uri="{FF2B5EF4-FFF2-40B4-BE49-F238E27FC236}">
                <a16:creationId xmlns:a16="http://schemas.microsoft.com/office/drawing/2014/main" id="{EE30FB96-9621-07B0-F4ED-A1E2A7B69695}"/>
              </a:ext>
            </a:extLst>
          </p:cNvPr>
          <p:cNvGraphicFramePr>
            <a:graphicFrameLocks noGrp="1"/>
          </p:cNvGraphicFramePr>
          <p:nvPr>
            <p:extLst>
              <p:ext uri="{D42A27DB-BD31-4B8C-83A1-F6EECF244321}">
                <p14:modId xmlns:p14="http://schemas.microsoft.com/office/powerpoint/2010/main" val="2830158731"/>
              </p:ext>
            </p:extLst>
          </p:nvPr>
        </p:nvGraphicFramePr>
        <p:xfrm>
          <a:off x="838199" y="1690688"/>
          <a:ext cx="10515599" cy="2240469"/>
        </p:xfrm>
        <a:graphic>
          <a:graphicData uri="http://schemas.openxmlformats.org/drawingml/2006/table">
            <a:tbl>
              <a:tblPr firstRow="1" bandRow="1">
                <a:tableStyleId>{5C22544A-7EE6-4342-B048-85BDC9FD1C3A}</a:tableStyleId>
              </a:tblPr>
              <a:tblGrid>
                <a:gridCol w="2669545">
                  <a:extLst>
                    <a:ext uri="{9D8B030D-6E8A-4147-A177-3AD203B41FA5}">
                      <a16:colId xmlns:a16="http://schemas.microsoft.com/office/drawing/2014/main" val="1818299710"/>
                    </a:ext>
                  </a:extLst>
                </a:gridCol>
                <a:gridCol w="7846054">
                  <a:extLst>
                    <a:ext uri="{9D8B030D-6E8A-4147-A177-3AD203B41FA5}">
                      <a16:colId xmlns:a16="http://schemas.microsoft.com/office/drawing/2014/main" val="3061784199"/>
                    </a:ext>
                  </a:extLst>
                </a:gridCol>
              </a:tblGrid>
              <a:tr h="316791">
                <a:tc>
                  <a:txBody>
                    <a:bodyPr/>
                    <a:lstStyle/>
                    <a:p>
                      <a:r>
                        <a:rPr lang="en-GB" dirty="0"/>
                        <a:t>KSB</a:t>
                      </a:r>
                    </a:p>
                  </a:txBody>
                  <a:tcPr/>
                </a:tc>
                <a:tc>
                  <a:txBody>
                    <a:bodyPr/>
                    <a:lstStyle/>
                    <a:p>
                      <a:r>
                        <a:rPr lang="en-GB" dirty="0"/>
                        <a:t>Description</a:t>
                      </a:r>
                    </a:p>
                  </a:txBody>
                  <a:tcPr/>
                </a:tc>
                <a:extLst>
                  <a:ext uri="{0D108BD9-81ED-4DB2-BD59-A6C34878D82A}">
                    <a16:rowId xmlns:a16="http://schemas.microsoft.com/office/drawing/2014/main" val="446206161"/>
                  </a:ext>
                </a:extLst>
              </a:tr>
              <a:tr h="781129">
                <a:tc>
                  <a:txBody>
                    <a:bodyPr/>
                    <a:lstStyle/>
                    <a:p>
                      <a:r>
                        <a:rPr lang="en-GB" dirty="0"/>
                        <a:t>SE2</a:t>
                      </a:r>
                    </a:p>
                  </a:txBody>
                  <a:tcPr/>
                </a:tc>
                <a:tc>
                  <a:txBody>
                    <a:bodyPr/>
                    <a:lstStyle/>
                    <a:p>
                      <a:r>
                        <a:rPr lang="en-GB" dirty="0"/>
                        <a:t>Undertake analysis and design to create artefacts, such as use cases to produce robust software designs </a:t>
                      </a:r>
                    </a:p>
                  </a:txBody>
                  <a:tcPr/>
                </a:tc>
                <a:extLst>
                  <a:ext uri="{0D108BD9-81ED-4DB2-BD59-A6C34878D82A}">
                    <a16:rowId xmlns:a16="http://schemas.microsoft.com/office/drawing/2014/main" val="2618274840"/>
                  </a:ext>
                </a:extLst>
              </a:tr>
              <a:tr h="546790">
                <a:tc>
                  <a:txBody>
                    <a:bodyPr/>
                    <a:lstStyle/>
                    <a:p>
                      <a:r>
                        <a:rPr lang="en-GB" dirty="0"/>
                        <a:t>SE9</a:t>
                      </a:r>
                    </a:p>
                  </a:txBody>
                  <a:tcPr/>
                </a:tc>
                <a:tc>
                  <a:txBody>
                    <a:bodyPr/>
                    <a:lstStyle/>
                    <a:p>
                      <a:r>
                        <a:rPr lang="en-GB" dirty="0"/>
                        <a:t>How to operate all stages of the software development lifecycle </a:t>
                      </a:r>
                    </a:p>
                  </a:txBody>
                  <a:tcPr/>
                </a:tc>
                <a:extLst>
                  <a:ext uri="{0D108BD9-81ED-4DB2-BD59-A6C34878D82A}">
                    <a16:rowId xmlns:a16="http://schemas.microsoft.com/office/drawing/2014/main" val="773214823"/>
                  </a:ext>
                </a:extLst>
              </a:tr>
              <a:tr h="546790">
                <a:tc>
                  <a:txBody>
                    <a:bodyPr/>
                    <a:lstStyle/>
                    <a:p>
                      <a:r>
                        <a:rPr lang="en-GB" dirty="0"/>
                        <a:t>SE11</a:t>
                      </a:r>
                    </a:p>
                  </a:txBody>
                  <a:tcPr/>
                </a:tc>
                <a:tc>
                  <a:txBody>
                    <a:bodyPr/>
                    <a:lstStyle/>
                    <a:p>
                      <a:r>
                        <a:rPr lang="en-GB" dirty="0"/>
                        <a:t>How to apply software analysis and design approaches</a:t>
                      </a:r>
                    </a:p>
                  </a:txBody>
                  <a:tcPr/>
                </a:tc>
                <a:extLst>
                  <a:ext uri="{0D108BD9-81ED-4DB2-BD59-A6C34878D82A}">
                    <a16:rowId xmlns:a16="http://schemas.microsoft.com/office/drawing/2014/main" val="697351856"/>
                  </a:ext>
                </a:extLst>
              </a:tr>
            </a:tbl>
          </a:graphicData>
        </a:graphic>
      </p:graphicFrame>
    </p:spTree>
    <p:extLst>
      <p:ext uri="{BB962C8B-B14F-4D97-AF65-F5344CB8AC3E}">
        <p14:creationId xmlns:p14="http://schemas.microsoft.com/office/powerpoint/2010/main" val="82177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29D47-A3AC-BE57-CD71-797E77246411}"/>
              </a:ext>
            </a:extLst>
          </p:cNvPr>
          <p:cNvSpPr>
            <a:spLocks noGrp="1"/>
          </p:cNvSpPr>
          <p:nvPr>
            <p:ph type="title"/>
          </p:nvPr>
        </p:nvSpPr>
        <p:spPr/>
        <p:txBody>
          <a:bodyPr/>
          <a:lstStyle/>
          <a:p>
            <a:r>
              <a:rPr lang="en-GB" dirty="0"/>
              <a:t>References 	</a:t>
            </a:r>
          </a:p>
        </p:txBody>
      </p:sp>
      <p:sp>
        <p:nvSpPr>
          <p:cNvPr id="3" name="Content Placeholder 2">
            <a:extLst>
              <a:ext uri="{FF2B5EF4-FFF2-40B4-BE49-F238E27FC236}">
                <a16:creationId xmlns:a16="http://schemas.microsoft.com/office/drawing/2014/main" id="{23D0DBF4-BFFA-6F70-54D5-34FA051C72F4}"/>
              </a:ext>
            </a:extLst>
          </p:cNvPr>
          <p:cNvSpPr>
            <a:spLocks noGrp="1"/>
          </p:cNvSpPr>
          <p:nvPr>
            <p:ph idx="1"/>
          </p:nvPr>
        </p:nvSpPr>
        <p:spPr/>
        <p:txBody>
          <a:bodyPr>
            <a:normAutofit fontScale="92500" lnSpcReduction="20000"/>
          </a:bodyPr>
          <a:lstStyle/>
          <a:p>
            <a:pPr marL="0" indent="0">
              <a:buNone/>
            </a:pPr>
            <a:r>
              <a:rPr lang="en-GB" dirty="0"/>
              <a:t>Gamma, E., Helm, R., Johnson, R., and </a:t>
            </a:r>
            <a:r>
              <a:rPr lang="en-GB" dirty="0" err="1"/>
              <a:t>Vlissides</a:t>
            </a:r>
            <a:r>
              <a:rPr lang="en-GB" dirty="0"/>
              <a:t>, J. (1994) </a:t>
            </a:r>
            <a:r>
              <a:rPr lang="en-GB" i="1" dirty="0"/>
              <a:t>Design Patterns: Elements of Reusable Object-Oriented Software. </a:t>
            </a:r>
            <a:r>
              <a:rPr lang="en-GB" dirty="0"/>
              <a:t>Massachusetts: Addison-Wesley Professional. </a:t>
            </a:r>
          </a:p>
          <a:p>
            <a:pPr marL="0" indent="0">
              <a:buNone/>
            </a:pPr>
            <a:r>
              <a:rPr lang="en-GB" dirty="0"/>
              <a:t>Freeman, E., and Robson, E. (2020) </a:t>
            </a:r>
            <a:r>
              <a:rPr lang="en-GB" i="1" dirty="0"/>
              <a:t>Head First Design Patterns. </a:t>
            </a:r>
            <a:r>
              <a:rPr lang="en-GB" dirty="0"/>
              <a:t>2</a:t>
            </a:r>
            <a:r>
              <a:rPr lang="en-GB" baseline="30000" dirty="0"/>
              <a:t>nd</a:t>
            </a:r>
            <a:r>
              <a:rPr lang="en-GB" dirty="0"/>
              <a:t> ed. Sebastopol: O’Reilly Media, Inc. </a:t>
            </a:r>
          </a:p>
          <a:p>
            <a:pPr marL="0" indent="0">
              <a:buNone/>
            </a:pPr>
            <a:r>
              <a:rPr lang="en-GB" dirty="0" err="1"/>
              <a:t>Kerievsky</a:t>
            </a:r>
            <a:r>
              <a:rPr lang="en-GB" dirty="0"/>
              <a:t>, J. (2004) </a:t>
            </a:r>
            <a:r>
              <a:rPr lang="en-GB" i="1" dirty="0"/>
              <a:t>Refactoring to Patterns. </a:t>
            </a:r>
            <a:r>
              <a:rPr lang="en-GB" dirty="0"/>
              <a:t>Boston</a:t>
            </a:r>
            <a:r>
              <a:rPr lang="en-GB" i="1" dirty="0"/>
              <a:t>: </a:t>
            </a:r>
            <a:r>
              <a:rPr lang="en-GB" dirty="0"/>
              <a:t>Addison-Wesley Professional. </a:t>
            </a:r>
          </a:p>
          <a:p>
            <a:pPr marL="0" indent="0">
              <a:buNone/>
            </a:pPr>
            <a:r>
              <a:rPr lang="en-GB" dirty="0" err="1"/>
              <a:t>Larman</a:t>
            </a:r>
            <a:r>
              <a:rPr lang="en-GB" dirty="0"/>
              <a:t>, C. (2004) </a:t>
            </a:r>
            <a:r>
              <a:rPr lang="en-GB" i="1" dirty="0"/>
              <a:t>Applying UML and patterns: an introduction to object-oriented analysis and design and iterative development</a:t>
            </a:r>
            <a:r>
              <a:rPr lang="en-GB" dirty="0"/>
              <a:t>. 3</a:t>
            </a:r>
            <a:r>
              <a:rPr lang="en-GB" baseline="30000" dirty="0"/>
              <a:t>rd</a:t>
            </a:r>
            <a:r>
              <a:rPr lang="en-GB" dirty="0"/>
              <a:t> ed. </a:t>
            </a:r>
            <a:r>
              <a:rPr lang="en-GB" dirty="0" err="1"/>
              <a:t>USA:Pearson</a:t>
            </a:r>
            <a:endParaRPr lang="en-GB" dirty="0"/>
          </a:p>
          <a:p>
            <a:pPr marL="0" indent="0">
              <a:buNone/>
            </a:pPr>
            <a:r>
              <a:rPr lang="en-GB" dirty="0" err="1"/>
              <a:t>Weisfeld</a:t>
            </a:r>
            <a:r>
              <a:rPr lang="en-GB" dirty="0"/>
              <a:t>, M. (2019) </a:t>
            </a:r>
            <a:r>
              <a:rPr lang="en-GB" i="1" dirty="0"/>
              <a:t>Object-Oriented Thought Process. </a:t>
            </a:r>
            <a:r>
              <a:rPr lang="en-GB" dirty="0"/>
              <a:t>5</a:t>
            </a:r>
            <a:r>
              <a:rPr lang="en-GB" baseline="30000" dirty="0"/>
              <a:t>th</a:t>
            </a:r>
            <a:r>
              <a:rPr lang="en-GB" dirty="0"/>
              <a:t> ed. Addison-Wesley Professional</a:t>
            </a:r>
          </a:p>
          <a:p>
            <a:pPr marL="0" indent="0">
              <a:buNone/>
            </a:pPr>
            <a:r>
              <a:rPr lang="en-GB" dirty="0"/>
              <a:t>Martin, R. C., (2017). </a:t>
            </a:r>
            <a:r>
              <a:rPr lang="en-GB" i="1" dirty="0"/>
              <a:t>Clean Architecture: A Craftsman's Guide to Software Structure and Design. </a:t>
            </a:r>
            <a:r>
              <a:rPr lang="en-GB" dirty="0"/>
              <a:t>Pearson </a:t>
            </a:r>
            <a:endParaRPr lang="en-GB" i="1" dirty="0"/>
          </a:p>
          <a:p>
            <a:pPr marL="0" indent="0">
              <a:buNone/>
            </a:pPr>
            <a:endParaRPr lang="en-GB" dirty="0"/>
          </a:p>
          <a:p>
            <a:pPr marL="0" indent="0">
              <a:buNone/>
            </a:pPr>
            <a:endParaRPr lang="en-GB" dirty="0"/>
          </a:p>
          <a:p>
            <a:pPr marL="0" indent="0">
              <a:buNone/>
            </a:pPr>
            <a:endParaRPr lang="en-GB" dirty="0"/>
          </a:p>
        </p:txBody>
      </p:sp>
    </p:spTree>
    <p:extLst>
      <p:ext uri="{BB962C8B-B14F-4D97-AF65-F5344CB8AC3E}">
        <p14:creationId xmlns:p14="http://schemas.microsoft.com/office/powerpoint/2010/main" val="15426396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DF9CB6401CB144087F23FE091D75252" ma:contentTypeVersion="12" ma:contentTypeDescription="Create a new document." ma:contentTypeScope="" ma:versionID="5b460d85791c07c73557c8db67977c1c">
  <xsd:schema xmlns:xsd="http://www.w3.org/2001/XMLSchema" xmlns:xs="http://www.w3.org/2001/XMLSchema" xmlns:p="http://schemas.microsoft.com/office/2006/metadata/properties" xmlns:ns3="61c5d094-83cf-4b10-8544-818356eda34a" xmlns:ns4="56bf771d-e02c-4f69-b3e8-2f700e3d8335" targetNamespace="http://schemas.microsoft.com/office/2006/metadata/properties" ma:root="true" ma:fieldsID="9beacc9ce45563c13c636ceacf9edfe3" ns3:_="" ns4:_="">
    <xsd:import namespace="61c5d094-83cf-4b10-8544-818356eda34a"/>
    <xsd:import namespace="56bf771d-e02c-4f69-b3e8-2f700e3d833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_activity" minOccurs="0"/>
                <xsd:element ref="ns3:MediaServiceAuto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c5d094-83cf-4b10-8544-818356eda34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6bf771d-e02c-4f69-b3e8-2f700e3d833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61c5d094-83cf-4b10-8544-818356eda34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FCCA73-8ED5-4B3F-B788-25A815A54E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1c5d094-83cf-4b10-8544-818356eda34a"/>
    <ds:schemaRef ds:uri="56bf771d-e02c-4f69-b3e8-2f700e3d83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EB3E12-BA65-42BC-8DBD-FB6D3986A49C}">
  <ds:schemaRefs>
    <ds:schemaRef ds:uri="http://schemas.microsoft.com/office/2006/documentManagement/types"/>
    <ds:schemaRef ds:uri="http://www.w3.org/XML/1998/namespace"/>
    <ds:schemaRef ds:uri="http://schemas.microsoft.com/office/infopath/2007/PartnerControls"/>
    <ds:schemaRef ds:uri="56bf771d-e02c-4f69-b3e8-2f700e3d8335"/>
    <ds:schemaRef ds:uri="http://schemas.microsoft.com/office/2006/metadata/properties"/>
    <ds:schemaRef ds:uri="61c5d094-83cf-4b10-8544-818356eda34a"/>
    <ds:schemaRef ds:uri="http://purl.org/dc/terms/"/>
    <ds:schemaRef ds:uri="http://purl.org/dc/dcmitype/"/>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876191BB-5643-4D3F-8690-D643EDE3D4E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2656</TotalTime>
  <Words>3249</Words>
  <Application>Microsoft Office PowerPoint</Application>
  <PresentationFormat>Widescreen</PresentationFormat>
  <Paragraphs>279</Paragraphs>
  <Slides>26</Slides>
  <Notes>15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4" baseType="lpstr">
      <vt:lpstr>Arial</vt:lpstr>
      <vt:lpstr>Calibri</vt:lpstr>
      <vt:lpstr>Calibri Light</vt:lpstr>
      <vt:lpstr>Google Sans</vt:lpstr>
      <vt:lpstr>Segoe UI</vt:lpstr>
      <vt:lpstr>Söhne</vt:lpstr>
      <vt:lpstr>Office Theme</vt:lpstr>
      <vt:lpstr>Microsoft PowerPoint Presentation</vt:lpstr>
      <vt:lpstr>Design Patterns in Object Oriented Programming </vt:lpstr>
      <vt:lpstr>Contents</vt:lpstr>
      <vt:lpstr>What are Design Patterns </vt:lpstr>
      <vt:lpstr>Behavioural  Patterns</vt:lpstr>
      <vt:lpstr>Creational  Patterns </vt:lpstr>
      <vt:lpstr>Structural Patterns</vt:lpstr>
      <vt:lpstr>Strengths of Design Patterns </vt:lpstr>
      <vt:lpstr>Limitations</vt:lpstr>
      <vt:lpstr>Potential Patterns, Justified and Implemented</vt:lpstr>
      <vt:lpstr>Iterator</vt:lpstr>
      <vt:lpstr>PowerPoint Presentation</vt:lpstr>
      <vt:lpstr>Strategy</vt:lpstr>
      <vt:lpstr>PowerPoint Presentation</vt:lpstr>
      <vt:lpstr>Factory + Command</vt:lpstr>
      <vt:lpstr>PowerPoint Presentation</vt:lpstr>
      <vt:lpstr>Facade</vt:lpstr>
      <vt:lpstr>PowerPoint Presentation</vt:lpstr>
      <vt:lpstr>Singleton + Builder</vt:lpstr>
      <vt:lpstr>PowerPoint Presentation</vt:lpstr>
      <vt:lpstr>Critical Evaluation </vt:lpstr>
      <vt:lpstr>OO Concepts</vt:lpstr>
      <vt:lpstr>SOLID</vt:lpstr>
      <vt:lpstr>GRASP</vt:lpstr>
      <vt:lpstr>Grasp cont. </vt:lpstr>
      <vt:lpstr>KSBs</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Patterns in Object Oriented Programming</dc:title>
  <dc:creator>SHEEN Catherine M</dc:creator>
  <cp:lastModifiedBy>SHEEN Catherine M</cp:lastModifiedBy>
  <cp:revision>14</cp:revision>
  <dcterms:created xsi:type="dcterms:W3CDTF">2023-06-10T15:41:00Z</dcterms:created>
  <dcterms:modified xsi:type="dcterms:W3CDTF">2023-06-25T21:13:48Z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0x010100BDF9CB6401CB144087F23FE091D75252</vt:lpwstr>
  </property>
</Properties>
</file>